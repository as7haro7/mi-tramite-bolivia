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Mi Trámite Bolivia</a:t>
            </a:r>
          </a:p>
          <a:p/>
          <a:p>
            <a:r>
              <a:t>TEXTOS CLAVE O VIÑETAS</a:t>
            </a:r>
          </a:p>
          <a:p>
            <a:r>
              <a:t>• Tu asistente inteligente para realizar trámites públicos.</a:t>
            </a:r>
          </a:p>
          <a:p>
            <a:r>
              <a:t>• Proyecto Final de INF-264 — Emprendimiento e Innovación Tecnológica.</a:t>
            </a:r>
          </a:p>
          <a:p>
            <a:r>
              <a:t>• Universidad Mayor de San Andrés, Carrera de Informática; La Paz, Bolivia — 2026.</a:t>
            </a:r>
          </a:p>
          <a:p/>
          <a:p>
            <a:r>
              <a:t>INDICACIONES VISUALES PRECISAS</a:t>
            </a:r>
          </a:p>
          <a:p>
            <a:r>
              <a:t>Portada sobria en azul marino. Usar el logotipo oficial incluido en el documento como foco principal y el escudo UMSA en un panel lateral. La franja turquesa y el acento dorado deben reforzar la identidad de confianza, tecnología y ciudadanía.</a:t>
            </a:r>
          </a:p>
          <a:p/>
          <a:p>
            <a:r>
              <a:t>INSTRUCCIONES ESPECÍFICAS PARA DIAGRAMAS/TABLAS</a:t>
            </a:r>
          </a:p>
          <a:p>
            <a:r>
              <a:t>No requiere diagrama. Mantener jerarquía: marca y promesa al centro-izquierda; datos académicos y equipo en el panel derecho.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Identificación del problema</a:t>
            </a:r>
          </a:p>
          <a:p/>
          <a:p>
            <a:r>
              <a:t>TEXTOS CLAVE O VIÑETAS</a:t>
            </a:r>
          </a:p>
          <a:p>
            <a:r>
              <a:t>• El ciudadano debe identificar institución, trámite, requisitos aplicables, costos, horarios, modalidad y respuesta ante observaciones.</a:t>
            </a:r>
          </a:p>
          <a:p>
            <a:r>
              <a:t>• La información dispersa y el lenguaje técnico generan documentación incompleta, filas, visitas repetidas y costos.</a:t>
            </a:r>
          </a:p>
          <a:p>
            <a:r>
              <a:t>• El problema central es la baja capacidad de preparación correcta antes del primer contacto con la institución.</a:t>
            </a:r>
          </a:p>
          <a:p>
            <a:r>
              <a:t>• Hipótesis: una guía personalizada con checklist, costo, ubicación, fuente y vigencia mejora la preparación y la resolución en el primer intento.</a:t>
            </a:r>
          </a:p>
          <a:p/>
          <a:p>
            <a:r>
              <a:t>INDICACIONES VISUALES PRECISAS</a:t>
            </a:r>
          </a:p>
          <a:p>
            <a:r>
              <a:t>Representar el problema como un árbol causal minimalista: tres causas arriba, el problema central en el centro y tres efectos abajo. Utilizar turquesa para causas, azul marino para el núcleo y dorado para efectos.</a:t>
            </a:r>
          </a:p>
          <a:p/>
          <a:p>
            <a:r>
              <a:t>INSTRUCCIONES ESPECÍFICAS PARA DIAGRAMAS/TABLAS</a:t>
            </a:r>
          </a:p>
          <a:p>
            <a:r>
              <a:t>Distribuir tres tarjetas de causas en la fila superior conectadas al bloque central; conectar el bloque central con tres tarjetas de efectos. En una banda inferior, mostrar la hipótesis como una relación causa-resultado y listar los seis indicadores de validación.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Descripción del emprendimiento</a:t>
            </a:r>
          </a:p>
          <a:p/>
          <a:p>
            <a:r>
              <a:t>TEXTOS CLAVE O VIÑETAS</a:t>
            </a:r>
          </a:p>
          <a:p>
            <a:r>
              <a:t>• Promesa: antes de hacer fila, el ciudadano sabrá qué preparar, dónde ir y qué verificar.</a:t>
            </a:r>
          </a:p>
          <a:p>
            <a:r>
              <a:t>• La aplicación organiza información institucional en fichas consistentes y responde preguntas en lenguaje natural.</a:t>
            </a:r>
          </a:p>
          <a:p>
            <a:r>
              <a:t>• La guía incluye requisitos obligatorios y condicionales, pasos, costo, modalidad, horarios, ubicación, fuentes, fecha y advertencias.</a:t>
            </a:r>
          </a:p>
          <a:p>
            <a:r>
              <a:t>• El asistente se abstiene cuando no puede confirmar una respuesta y deriva al contacto oficial.</a:t>
            </a:r>
          </a:p>
          <a:p>
            <a:r>
              <a:t>• El MVP se limita a 20–30 trámites de alta demanda.</a:t>
            </a:r>
          </a:p>
          <a:p/>
          <a:p>
            <a:r>
              <a:t>INDICACIONES VISUALES PRECISAS</a:t>
            </a:r>
          </a:p>
          <a:p>
            <a:r>
              <a:t>Usar un flujo horizontal de cinco etapas y tres bloques de capacidades: MVP ciudadano, arquitectura de confianza y límite responsable. Evitar ilustraciones genéricas; la visual debe explicar la experiencia.</a:t>
            </a:r>
          </a:p>
          <a:p/>
          <a:p>
            <a:r>
              <a:t>INSTRUCCIONES ESPECÍFICAS PARA DIAGRAMAS/TABLAS</a:t>
            </a:r>
          </a:p>
          <a:p>
            <a:r>
              <a:t>Orden del flujo: Describir necesidad → Aclarar caso → Orientar con tarjetas → Preparar checklist → Derivar al canal oficial. Diferenciar la última etapa en dorado para remarcar que la aplicación no ejecuta el trámite.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Justificación</a:t>
            </a:r>
          </a:p>
          <a:p/>
          <a:p>
            <a:r>
              <a:t>TEXTOS CLAVE O VIÑETAS</a:t>
            </a:r>
          </a:p>
          <a:p>
            <a:r>
              <a:t>• Técnica: Flutter, Go, PostgreSQL, Render, Neon y APIs de IA permiten implementar un MVP con componentes maduros.</a:t>
            </a:r>
          </a:p>
          <a:p>
            <a:r>
              <a:t>• Económica: una base multiplataforma y servicios administrados reducen duplicación y permiten comenzar con costos variables.</a:t>
            </a:r>
          </a:p>
          <a:p>
            <a:r>
              <a:t>• Social: la guía puede reducir asimetrías de información, errores y desplazamientos evitables.</a:t>
            </a:r>
          </a:p>
          <a:p>
            <a:r>
              <a:t>• Académica e innovadora: integra emprendimiento, UX, ingeniería, datos, IA, seguridad y evaluación económica.</a:t>
            </a:r>
          </a:p>
          <a:p>
            <a:r>
              <a:t>• La innovación está en la arquitectura de confianza: el modelo no es la fuente; consulta un catálogo oficial versionado.</a:t>
            </a:r>
          </a:p>
          <a:p/>
          <a:p>
            <a:r>
              <a:t>INDICACIONES VISUALES PRECISAS</a:t>
            </a:r>
          </a:p>
          <a:p>
            <a:r>
              <a:t>Componer cuatro cuadrantes alrededor de una afirmación central. Cada cuadrante debe tener un color de acento distinto y una sola idea ejecutiva, sin fotografías de relleno.</a:t>
            </a:r>
          </a:p>
          <a:p/>
          <a:p>
            <a:r>
              <a:t>INSTRUCCIONES ESPECÍFICAS PARA DIAGRAMAS/TABLAS</a:t>
            </a:r>
          </a:p>
          <a:p>
            <a:r>
              <a:t>Ubicar Técnica y Económica arriba; Social y Académica/Innovadora abajo. Conectar las cuatro tarjetas al bloque central. Añadir un sello de diferenciación: fuente, vigencia y abstención desde la primera versión.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Público objetivo</a:t>
            </a:r>
          </a:p>
          <a:p/>
          <a:p>
            <a:r>
              <a:t>TEXTOS CLAVE O VIÑETAS</a:t>
            </a:r>
          </a:p>
          <a:p>
            <a:r>
              <a:t>• Segmentos: ciudadanos de 18–45 años, trabajadores independientes y emprendedores, estudiantes, familias/cuidadores e instituciones.</a:t>
            </a:r>
          </a:p>
          <a:p>
            <a:r>
              <a:t>• Camila, 22: necesita legalizar documentos y distinguir la fuente vigente.</a:t>
            </a:r>
          </a:p>
          <a:p>
            <a:r>
              <a:t>• José, 34: quiere formalizar una actividad y planificar secuencias, costos y tiempos.</a:t>
            </a:r>
          </a:p>
          <a:p>
            <a:r>
              <a:t>• María, 48: gestiona trámites familiares con conectividad intermitente y necesita una interfaz simple.</a:t>
            </a:r>
          </a:p>
          <a:p>
            <a:r>
              <a:t>• Early adopters: estudiantes UMSA, jóvenes profesionales, emprendedores de La Paz y usuarios que ya consultan en redes.</a:t>
            </a:r>
          </a:p>
          <a:p/>
          <a:p>
            <a:r>
              <a:t>INDICACIONES VISUALES PRECISAS</a:t>
            </a:r>
          </a:p>
          <a:p>
            <a:r>
              <a:t>Mostrar tres tarjetas de personas con inicial, edad, contexto, necesidad y valor esperado. Debajo, una matriz compacta de cinco segmentos y una banda de early adopters/canales.</a:t>
            </a:r>
          </a:p>
          <a:p/>
          <a:p>
            <a:r>
              <a:t>INSTRUCCIONES ESPECÍFICAS PARA DIAGRAMAS/TABLAS</a:t>
            </a:r>
          </a:p>
          <a:p>
            <a:r>
              <a:t>Fila superior: Camila, José y María. Fila inferior: cinco segmentos distribuidos en dos filas. Resaltar instituciones en dorado para distinguir el componente B2B del público ciudadano.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Modelo de negocio (Canvas)</a:t>
            </a:r>
          </a:p>
          <a:p/>
          <a:p>
            <a:r>
              <a:t>TEXTOS CLAVE O VIÑETAS</a:t>
            </a:r>
          </a:p>
          <a:p>
            <a:r>
              <a:t>• Modelo freemium con información esencial gratuita y énfasis en ingresos institucionales.</a:t>
            </a:r>
          </a:p>
          <a:p>
            <a:r>
              <a:t>• Plan premium: recordatorios avanzados, perfiles familiares, historial sincronizado y alertas.</a:t>
            </a:r>
          </a:p>
          <a:p>
            <a:r>
              <a:t>• B2B: panel de publicación, estadísticas, configuración de flujos e implementaciones white-label.</a:t>
            </a:r>
          </a:p>
          <a:p>
            <a:r>
              <a:t>• No vender datos personales ni cobrar por información pública.</a:t>
            </a:r>
          </a:p>
          <a:p>
            <a:r>
              <a:t>• La sostenibilidad inicial puede provenir de uno o dos clientes institucionales mientras crece el segmento ciudadano.</a:t>
            </a:r>
          </a:p>
          <a:p/>
          <a:p>
            <a:r>
              <a:t>INDICACIONES VISUALES PRECISAS</a:t>
            </a:r>
          </a:p>
          <a:p>
            <a:r>
              <a:t>Construir el Business Model Canvas completo en nueve bloques. Usar un color de acento por lógica: socios/segmentos en turquesa, propuesta en dorado, operación en azul, relación/canales en violeta, costos en rojo e ingresos en verde.</a:t>
            </a:r>
          </a:p>
          <a:p/>
          <a:p>
            <a:r>
              <a:t>INSTRUCCIONES ESPECÍFICAS PARA DIAGRAMAS/TABLAS</a:t>
            </a:r>
          </a:p>
          <a:p>
            <a:r>
              <a:t>Distribución estándar: Socios | Actividades/Recursos | Propuesta de valor | Relación/Canales | Segmentos. En la franja inferior: Estructura de costos a la izquierda y Fuentes de ingreso a la derecha. Añadir una banda de principio ético.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Tecnologías a utilizar</a:t>
            </a:r>
          </a:p>
          <a:p/>
          <a:p>
            <a:r>
              <a:t>TEXTOS CLAVE O VIÑETAS</a:t>
            </a:r>
          </a:p>
          <a:p>
            <a:r>
              <a:t>• Frontend: Flutter/Dart, Riverpod, Dio, Flutter Secure Storage y Drift para Android e iOS.</a:t>
            </a:r>
          </a:p>
          <a:p>
            <a:r>
              <a:t>• Backend: monolito modular en Go, Gin, REST/OpenAPI, pgx, sqlc y Goose; despliegue en Render.</a:t>
            </a:r>
          </a:p>
          <a:p>
            <a:r>
              <a:t>• Datos: PostgreSQL en Neon, búsqueda de texto completo y pgvector opcional.</a:t>
            </a:r>
          </a:p>
          <a:p>
            <a:r>
              <a:t>• IA: Gemini y Qwen detrás de adaptadores; respuestas con JSON Schema y validación de trazabilidad.</a:t>
            </a:r>
          </a:p>
          <a:p>
            <a:r>
              <a:t>• Operación y calidad: Docker, GitHub Actions, pruebas, logs, métricas, límites de tokens y controles OWASP.</a:t>
            </a:r>
          </a:p>
          <a:p/>
          <a:p>
            <a:r>
              <a:t>INDICACIONES VISUALES PRECISAS</a:t>
            </a:r>
          </a:p>
          <a:p>
            <a:r>
              <a:t>Usar una arquitectura en capas a la izquierda y un pipeline RAG a la derecha. Fondo azul marino para transmitir infraestructura y seguridad. Evitar logos externos: los nombres de tecnologías son suficientes.</a:t>
            </a:r>
          </a:p>
          <a:p/>
          <a:p>
            <a:r>
              <a:t>INSTRUCCIONES ESPECÍFICAS PARA DIAGRAMAS/TABLAS</a:t>
            </a:r>
          </a:p>
          <a:p>
            <a:r>
              <a:t>Capas: Clientes → API/Negocio → Datos → Operación. Pipeline: Consulta → Recuperación aprobada → Gemini/Qwen con JSON Schema → Validación de estructura/fuentes → Guía o abstención. Cerrar con una franja de controles de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Prototipo o maquetado</a:t>
            </a:r>
          </a:p>
          <a:p/>
          <a:p>
            <a:r>
              <a:t>TEXTOS CLAVE O VIÑETAS</a:t>
            </a:r>
          </a:p>
          <a:p>
            <a:r>
              <a:t>• Principios UX: lenguaje simple, revelación progresiva, confianza y conectividad limitada.</a:t>
            </a:r>
          </a:p>
          <a:p>
            <a:r>
              <a:t>• Pantallas clave: Inicio, Resultados, Ficha, Asistente, Checklist, Ubicación, Guardados, Reportar cambio y Perfil.</a:t>
            </a:r>
          </a:p>
          <a:p>
            <a:r>
              <a:t>• La ficha muestra modalidad, fecha de verificación y botón “Ver fuente oficial”.</a:t>
            </a:r>
          </a:p>
          <a:p>
            <a:r>
              <a:t>• Flujo: Inicio → Consultar/Buscar → Revisar requisitos → Preparar checklist/alertas → Derivar al canal oficial.</a:t>
            </a:r>
          </a:p>
          <a:p>
            <a:r>
              <a:t>• Prueba de usabilidad: al menos diez participantes de tres perfiles y tres tareas.</a:t>
            </a:r>
          </a:p>
          <a:p/>
          <a:p>
            <a:r>
              <a:t>INDICACIONES VISUALES PRECISAS</a:t>
            </a:r>
          </a:p>
          <a:p>
            <a:r>
              <a:t>Mostrar tres maquetas de teléfono construidas con elementos de interfaz: Inicio, Ficha del trámite y Checklist. Agregar un panel lateral con principios UX y una secuencia numerada debajo.</a:t>
            </a:r>
          </a:p>
          <a:p/>
          <a:p>
            <a:r>
              <a:t>INSTRUCCIONES ESPECÍFICAS PARA DIAGRAMAS/TABLAS</a:t>
            </a:r>
          </a:p>
          <a:p>
            <a:r>
              <a:t>Los mockups son conceptuales y se derivan de la tabla de pantallas del documento. En la ficha deben verse modalidad, fecha, requisitos, costo/horario, ubicación y fuente. En el checklist, casillas y progreso. Indicar explícitamente que la app orienta y deriva.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Análisis de mercado y competencia</a:t>
            </a:r>
          </a:p>
          <a:p/>
          <a:p>
            <a:r>
              <a:t>TEXTOS CLAVE O VIÑETAS</a:t>
            </a:r>
          </a:p>
          <a:p>
            <a:r>
              <a:t>• El mercado incluye gob.bo, Ciudadanía Digital/PTC, portales institucionales, buscadores/redes y tramitadores.</a:t>
            </a:r>
          </a:p>
          <a:p>
            <a:r>
              <a:t>• Mi Trámite Bolivia se posiciona como complemento interoperable, no como sustituto de los canales oficiales.</a:t>
            </a:r>
          </a:p>
          <a:p>
            <a:r>
              <a:t>• Diferenciadores: personalización, trazabilidad, experiencia móvil, IA controlada, interoperabilidad futura y enfoque boliviano.</a:t>
            </a:r>
          </a:p>
          <a:p>
            <a:r>
              <a:t>• Entrada: piloto en La Paz con 20–30 trámites verificables; después, demostración institucional.</a:t>
            </a:r>
          </a:p>
          <a:p>
            <a:r>
              <a:t>• Expansión por paquetes de contenido, sin prometer cobertura nacional inmediata.</a:t>
            </a:r>
          </a:p>
          <a:p/>
          <a:p>
            <a:r>
              <a:t>INDICACIONES VISUALES PRECISAS</a:t>
            </a:r>
          </a:p>
          <a:p>
            <a:r>
              <a:t>Usar una tabla comparativa de seis filas; destacar Mi Trámite Bolivia en turquesa suave. Agregar abajo una ruta de entrada al mercado en cinco pasos.</a:t>
            </a:r>
          </a:p>
          <a:p/>
          <a:p>
            <a:r>
              <a:t>INSTRUCCIONES ESPECÍFICAS PARA DIAGRAMAS/TABLAS</a:t>
            </a:r>
          </a:p>
          <a:p>
            <a:r>
              <a:t>Columnas: Alternativa | Fortaleza | Brecha/posición. Filas: gob.bo, Ciudadanía Digital/PTC, portales institucionales, buscadores/redes, tramitadores informales y Mi Trámite Bolivia. Ruta: La Paz → 20–30 trámites → piloto universitario → demo institucional → expansión por paquetes.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Estudio económico</a:t>
            </a:r>
          </a:p>
          <a:p/>
          <a:p>
            <a:r>
              <a:t>TEXTOS CLAVE O VIÑETAS</a:t>
            </a:r>
          </a:p>
          <a:p>
            <a:r>
              <a:t>• Inversión inicial: 97.350 Bs. de valor económico y 24.500 Bs. de desembolso estimado cuando el equipo aporta Flutter y Go.</a:t>
            </a:r>
          </a:p>
          <a:p>
            <a:r>
              <a:t>• Costo operativo sostenible: 6.000 Bs./mes; en fase académica el desembolso puede bajar aproximadamente a 2.500 Bs./mes.</a:t>
            </a:r>
          </a:p>
          <a:p>
            <a:r>
              <a:t>• Premium: 20 Bs./mes; licencia institucional: 2.000 Bs./mes; white-label: 8.000–20.000 Bs.</a:t>
            </a:r>
          </a:p>
          <a:p>
            <a:r>
              <a:t>• Equilibrio operativo: 4 instituciones, o 334 premium, o 2 instituciones + 134 premium.</a:t>
            </a:r>
          </a:p>
          <a:p>
            <a:r>
              <a:t>• Escenario base de primer año: 3 instituciones y 250 premium hacia el último trimestre, cerca del equilibrio operativo.</a:t>
            </a:r>
          </a:p>
          <a:p/>
          <a:p>
            <a:r>
              <a:t>INDICACIONES VISUALES PRECISAS</a:t>
            </a:r>
          </a:p>
          <a:p>
            <a:r>
              <a:t>Usar tres cifras principales arriba. Debajo: barras horizontales de inversión por categoría; una barra apilada de costos mensuales; y tres tarjetas de punto de equilibrio. No usar proyecciones que no estén en el documento.</a:t>
            </a:r>
          </a:p>
          <a:p/>
          <a:p>
            <a:r>
              <a:t>INSTRUCCIONES ESPECÍFICAS PARA DIAGRAMAS/TABLAS</a:t>
            </a:r>
          </a:p>
          <a:p>
            <a:r>
              <a:t>En inversión, superponer desembolso en dorado sobre valor económico en azul. En operación, repartir 6.000 Bs.: curación/soporte 2.500; IA 1.200; marketing 1.000; Render 400; contingencia 400; Neon 250; otros 250. En equilibrio, mostrar los tres escenarios de la Tabla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Riesgos</a:t>
            </a:r>
          </a:p>
          <a:p/>
          <a:p>
            <a:r>
              <a:t>TEXTOS CLAVE O VIÑETAS</a:t>
            </a:r>
          </a:p>
          <a:p>
            <a:r>
              <a:t>• Riesgos críticos: información desactualizada, alucinación del LLM, acceso no autorizado, confusión con entidad oficial, baja adopción y falta de actualización.</a:t>
            </a:r>
          </a:p>
          <a:p>
            <a:r>
              <a:t>• Riesgos medios: caída del proveedor de IA, costos variables y brecha digital.</a:t>
            </a:r>
          </a:p>
          <a:p>
            <a:r>
              <a:t>• Riesgo de alcance: alta probabilidad y impacto medio.</a:t>
            </a:r>
          </a:p>
          <a:p>
            <a:r>
              <a:t>• Mitigaciones: versionado, fuentes, SLA, RAG, JSON Schema, abstención, revisión humana, adaptadores, RBAC, auditoría, límites, accesibilidad y aviso de independencia.</a:t>
            </a:r>
          </a:p>
          <a:p/>
          <a:p>
            <a:r>
              <a:t>INDICACIONES VISUALES PRECISAS</a:t>
            </a:r>
          </a:p>
          <a:p>
            <a:r>
              <a:t>Representar los diez riesgos en una matriz 2×2 de probabilidad e impacto. Usar rojo para alto impacto, ámbar para impacto medio y un panel lateral azul marino con controles clave.</a:t>
            </a:r>
          </a:p>
          <a:p/>
          <a:p>
            <a:r>
              <a:t>INSTRUCCIONES ESPECÍFICAS PARA DIAGRAMAS/TABLAS</a:t>
            </a:r>
          </a:p>
          <a:p>
            <a:r>
              <a:t>Ejes: Probabilidad alta/media e Impacto medio/alto. Ubicar Alcance excesivo en alta/media; Información desactualizada en alta/alta; Caída IA, Costos y Brecha digital en media/media; los otros cinco riesgos en media/alta.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Cronograma</a:t>
            </a:r>
          </a:p>
          <a:p/>
          <a:p>
            <a:r>
              <a:t>TEXTOS CLAVE O VIÑETAS</a:t>
            </a:r>
          </a:p>
          <a:p>
            <a:r>
              <a:t>• Duración: 20 semanas, con sprints de dos semanas y fase inicial de descubrimiento.</a:t>
            </a:r>
          </a:p>
          <a:p>
            <a:r>
              <a:t>• Fases: Descubrimiento; UX/UI y arquitectura; Catálogo; Backend; Flutter; IA/RAG; Integración/QA; Piloto; Lanzamiento.</a:t>
            </a:r>
          </a:p>
          <a:p>
            <a:r>
              <a:t>• El contenido se levanta en paralelo al software para evitar integrar IA con datos ficticios.</a:t>
            </a:r>
          </a:p>
          <a:p>
            <a:r>
              <a:t>• Hitos: validación S3, prototipo S5, API alfa S11, asistente S14, beta S17, piloto S19 y defensa S20.</a:t>
            </a:r>
          </a:p>
          <a:p/>
          <a:p>
            <a:r>
              <a:t>INDICACIONES VISUALES PRECISAS</a:t>
            </a:r>
          </a:p>
          <a:p>
            <a:r>
              <a:t>Usar el diagrama de Gantt incluido en el documento, ampliado casi a pantalla completa. Mantener sus colores y etiquetas; añadir una banda inferior de hitos.</a:t>
            </a:r>
          </a:p>
          <a:p/>
          <a:p>
            <a:r>
              <a:t>INSTRUCCIONES ESPECÍFICAS PARA DIAGRAMAS/TABLAS</a:t>
            </a:r>
          </a:p>
          <a:p>
            <a:r>
              <a:t>La tabla debe distribuir las semanas 1–20 en columnas y las nueve fases en filas. Respetar superposiciones: Descubrimiento S1–3; UX/UI S2–5; Catálogo S3–8; Backend S4–11; Flutter S5–13; IA/RAG S8–14; Integración/QA S12–17; Piloto S18–19; Lanzamiento S20.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TÍTULO DE LA DIAPOSITIVA</a:t>
            </a:r>
          </a:p>
          <a:p>
            <a:r>
              <a:t>Conclusiones y recomendaciones</a:t>
            </a:r>
          </a:p>
          <a:p/>
          <a:p>
            <a:r>
              <a:t>TEXTOS CLAVE O VIÑETAS</a:t>
            </a:r>
          </a:p>
          <a:p>
            <a:r>
              <a:t>• El proyecto es técnicamente alcanzable y socialmente relevante como MVP de aproximadamente cinco meses.</a:t>
            </a:r>
          </a:p>
          <a:p>
            <a:r>
              <a:t>• La propuesta no repite enlaces: transforma información oficial en una guía personal, verificable y accionable.</a:t>
            </a:r>
          </a:p>
          <a:p>
            <a:r>
              <a:t>• El principal activo es el catálogo confiable y su proceso de actualización.</a:t>
            </a:r>
          </a:p>
          <a:p>
            <a:r>
              <a:t>• La viabilidad empresarial exige validar ingresos institucionales; premium por sí solo requiere mayor escala.</a:t>
            </a:r>
          </a:p>
          <a:p>
            <a:r>
              <a:t>• Recomendaciones: limitar el piloto, gobernar contenido, validar B2B y medir antes de migrar a Qwen local.</a:t>
            </a:r>
          </a:p>
          <a:p/>
          <a:p>
            <a:r>
              <a:t>INDICACIONES VISUALES PRECISAS</a:t>
            </a:r>
          </a:p>
          <a:p>
            <a:r>
              <a:t>Cerrar con una declaración fuerte, tres tarjetas de conclusiones y cuatro recomendaciones accionables. Mantener fondo azul marino y acentos turquesa/dorado para un final de alto impacto.</a:t>
            </a:r>
          </a:p>
          <a:p/>
          <a:p>
            <a:r>
              <a:t>INSTRUCCIONES ESPECÍFICAS PARA DIAGRAMAS/TABLAS</a:t>
            </a:r>
          </a:p>
          <a:p>
            <a:r>
              <a:t>Fila superior: factibilidad técnica, activo de confianza y viabilidad híbrida. Fila inferior: cuatro recomendaciones numeradas. Cerrar con una ecuación conceptual del éxito: menos incertidumbre + más preparación +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6840" y="-320040"/>
            <a:ext cx="3840480" cy="7498079"/>
          </a:xfrm>
          <a:prstGeom prst="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137160"/>
            <a:ext cx="2423160" cy="242316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30352"/>
            <a:ext cx="4709160" cy="25707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" y="3346704"/>
            <a:ext cx="7498079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Tu asistente inteligente para realizar trámites públicos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224528"/>
            <a:ext cx="70408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7DBE8"/>
                </a:solidFill>
                <a:latin typeface="Aptos"/>
              </a:rPr>
              <a:t>Orientación ciudadana · Información oficial versionada · IA con trazabilidad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5084064"/>
            <a:ext cx="6812280" cy="36576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285232"/>
            <a:ext cx="7040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BFD8E8"/>
                </a:solidFill>
                <a:latin typeface="Aptos"/>
              </a:rPr>
              <a:t>PROYECTO FINAL  ·  INF-264 — Emprendimiento e Innovación Tecnológica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650992"/>
            <a:ext cx="7406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BFD8E8"/>
                </a:solidFill>
                <a:latin typeface="Aptos"/>
              </a:rPr>
              <a:t>Universidad Mayor de San Andrés · Carrera de Informática · La Paz, Bolivia — 2026</a:t>
            </a:r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952" y="347472"/>
            <a:ext cx="982980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64040" y="2907792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D9A514"/>
                </a:solidFill>
                <a:latin typeface="Aptos"/>
              </a:rPr>
              <a:t>EQUIPO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236976"/>
            <a:ext cx="2286000" cy="1572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Helen Canqui Phuña</a:t>
            </a:r>
            <a:br/>
            <a:r>
              <a:t>Cecilia Chana Saico</a:t>
            </a:r>
            <a:br/>
            <a:r>
              <a:t>Vanesa Enriquez Aduviri</a:t>
            </a:r>
            <a:br/>
            <a:r>
              <a:t>Ricardo Mendoza Mamani</a:t>
            </a:r>
            <a:br/>
            <a:r>
              <a:t>Erick Poma Condori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5184648"/>
            <a:ext cx="22860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C7DBE8"/>
                </a:solidFill>
                <a:latin typeface="Aptos"/>
              </a:rPr>
              <a:t>Docente</a:t>
            </a:r>
            <a:br/>
            <a:r>
              <a:t>M. Sc. Silvana Llanque Pérez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291072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BFD8E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Identificación del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DE LA INFORMACIÓN FRAGMENTADA A VISITAS REPETIDAS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2112" y="2267712"/>
            <a:ext cx="5806440" cy="102412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6432" y="2450592"/>
            <a:ext cx="52578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Baja capacidad de preparación correcta</a:t>
            </a:r>
            <a:br/>
            <a:r>
              <a:t>antes del primer contacto con la institución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43000"/>
            <a:ext cx="34015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362456"/>
            <a:ext cx="347472" cy="347472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624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1243584"/>
            <a:ext cx="2514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Información dispersa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536192"/>
            <a:ext cx="2532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Portales, comunicados y oficinas.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67712" y="1984248"/>
            <a:ext cx="3822192" cy="283464"/>
          </a:xfrm>
          <a:prstGeom prst="line">
            <a:avLst/>
          </a:prstGeom>
          <a:ln w="1651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61688" y="1143000"/>
            <a:ext cx="34015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362456"/>
            <a:ext cx="347472" cy="347472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3624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243584"/>
            <a:ext cx="2514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Lenguaje técnico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1536192"/>
            <a:ext cx="2532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Requisitos generales vs. condicionales.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62472" y="1984248"/>
            <a:ext cx="27432" cy="283464"/>
          </a:xfrm>
          <a:prstGeom prst="line">
            <a:avLst/>
          </a:prstGeom>
          <a:ln w="1651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56448" y="1143000"/>
            <a:ext cx="34015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1362456"/>
            <a:ext cx="347472" cy="347472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3624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243584"/>
            <a:ext cx="2514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Ruta variable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1536192"/>
            <a:ext cx="2532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Institución, trámite y caso personal.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089904" y="1984248"/>
            <a:ext cx="3767328" cy="283464"/>
          </a:xfrm>
          <a:prstGeom prst="line">
            <a:avLst/>
          </a:prstGeom>
          <a:ln w="1651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267712" y="3291840"/>
            <a:ext cx="3822192" cy="438912"/>
          </a:xfrm>
          <a:prstGeom prst="line">
            <a:avLst/>
          </a:prstGeom>
          <a:ln w="16510">
            <a:solidFill>
              <a:srgbClr val="D9A5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6928" y="3730752"/>
            <a:ext cx="34015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3950208"/>
            <a:ext cx="347472" cy="347472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9502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7" y="3831336"/>
            <a:ext cx="2514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Costo directo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7" y="4123944"/>
            <a:ext cx="2532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Transporte, copias, legalizaciones.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6062472" y="3291840"/>
            <a:ext cx="27432" cy="438912"/>
          </a:xfrm>
          <a:prstGeom prst="line">
            <a:avLst/>
          </a:prstGeom>
          <a:ln w="16510">
            <a:solidFill>
              <a:srgbClr val="D9A5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361688" y="3730752"/>
            <a:ext cx="34015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26280" y="3950208"/>
            <a:ext cx="347472" cy="347472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39502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01768" y="3831336"/>
            <a:ext cx="2514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Tiempo perdido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01768" y="4123944"/>
            <a:ext cx="2532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Filas, permisos laborales, nuevas visitas.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89904" y="3291840"/>
            <a:ext cx="3767328" cy="438912"/>
          </a:xfrm>
          <a:prstGeom prst="line">
            <a:avLst/>
          </a:prstGeom>
          <a:ln w="16510">
            <a:solidFill>
              <a:srgbClr val="D9A5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156448" y="3730752"/>
            <a:ext cx="34015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21040" y="3950208"/>
            <a:ext cx="347472" cy="347472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39502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96528" y="3831336"/>
            <a:ext cx="2514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Aptos"/>
              </a:rPr>
              <a:t>Costo emocional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96528" y="4123944"/>
            <a:ext cx="2532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Incertidumbre y temor a que falte algo.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983480"/>
            <a:ext cx="11045952" cy="1069848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5212080"/>
            <a:ext cx="9601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478C7"/>
                </a:solidFill>
                <a:latin typeface="Aptos"/>
              </a:rPr>
              <a:t>HIPÓTESIS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47088" y="5120640"/>
            <a:ext cx="5212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102A43"/>
                </a:solidFill>
                <a:latin typeface="Aptos"/>
              </a:rPr>
              <a:t>Guía personalizada + checklist + costo + ubicación + fuente + vigencia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5074920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0F8B8D"/>
                </a:solidFill>
                <a:latin typeface="Aptos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5120640"/>
            <a:ext cx="37033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Mayor preparación completa y más resoluciones en el primer intento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47088" y="5596128"/>
            <a:ext cx="89154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>
                <a:solidFill>
                  <a:srgbClr val="5F6B7A"/>
                </a:solidFill>
                <a:latin typeface="Aptos"/>
              </a:rPr>
              <a:t>Validar: preparación completa · primer intento · tiempo de orientación · exactitud · respuestas con fuente · satisfacción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1967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Aptos"/>
              </a:rPr>
              <a:t>Fuente exclusiva: Proyecto_Final_Mi_Tramite_Bolivia_INF264.docx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Descripción del emprendimiento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UNA CAPA DE ORIENTACIÓN ANTES DEL CANAL OFICIAL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97280"/>
            <a:ext cx="11045952" cy="74980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225296"/>
            <a:ext cx="10332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Antes de hacer fila, el ciudadano sabrá qué preparar, dónde ir y qué verificar.</a:t>
            </a:r>
          </a:p>
        </p:txBody>
      </p:sp>
      <p:sp>
        <p:nvSpPr>
          <p:cNvPr id="8" name="Chevron 7"/>
          <p:cNvSpPr/>
          <p:nvPr/>
        </p:nvSpPr>
        <p:spPr>
          <a:xfrm>
            <a:off x="585216" y="2185416"/>
            <a:ext cx="2057400" cy="667512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185416"/>
            <a:ext cx="1847088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1  Describir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71800"/>
            <a:ext cx="1874519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F6B7A"/>
                </a:solidFill>
                <a:latin typeface="Aptos"/>
              </a:rPr>
              <a:t>Necesidad en lenguaje natural</a:t>
            </a:r>
          </a:p>
        </p:txBody>
      </p:sp>
      <p:sp>
        <p:nvSpPr>
          <p:cNvPr id="11" name="Chevron 10"/>
          <p:cNvSpPr/>
          <p:nvPr/>
        </p:nvSpPr>
        <p:spPr>
          <a:xfrm>
            <a:off x="2825496" y="2185416"/>
            <a:ext cx="2057400" cy="667512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2185416"/>
            <a:ext cx="1847088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2  Aclarar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971800"/>
            <a:ext cx="1874519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F6B7A"/>
                </a:solidFill>
                <a:latin typeface="Aptos"/>
              </a:rPr>
              <a:t>Preguntas mínimas del caso</a:t>
            </a:r>
          </a:p>
        </p:txBody>
      </p:sp>
      <p:sp>
        <p:nvSpPr>
          <p:cNvPr id="14" name="Chevron 13"/>
          <p:cNvSpPr/>
          <p:nvPr/>
        </p:nvSpPr>
        <p:spPr>
          <a:xfrm>
            <a:off x="5065776" y="2185416"/>
            <a:ext cx="2057400" cy="667512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2185416"/>
            <a:ext cx="1847088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3  Orientar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971800"/>
            <a:ext cx="1874519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F6B7A"/>
                </a:solidFill>
                <a:latin typeface="Aptos"/>
              </a:rPr>
              <a:t>Guía en tarjetas verificables</a:t>
            </a:r>
          </a:p>
        </p:txBody>
      </p:sp>
      <p:sp>
        <p:nvSpPr>
          <p:cNvPr id="17" name="Chevron 16"/>
          <p:cNvSpPr/>
          <p:nvPr/>
        </p:nvSpPr>
        <p:spPr>
          <a:xfrm>
            <a:off x="7306056" y="2185416"/>
            <a:ext cx="2057400" cy="667512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9208" y="2185416"/>
            <a:ext cx="1847088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4  Preparar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2971800"/>
            <a:ext cx="1874519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F6B7A"/>
                </a:solidFill>
                <a:latin typeface="Aptos"/>
              </a:rPr>
              <a:t>Checklist y progreso guardado</a:t>
            </a:r>
          </a:p>
        </p:txBody>
      </p:sp>
      <p:sp>
        <p:nvSpPr>
          <p:cNvPr id="20" name="Chevron 19"/>
          <p:cNvSpPr/>
          <p:nvPr/>
        </p:nvSpPr>
        <p:spPr>
          <a:xfrm>
            <a:off x="9546336" y="2185416"/>
            <a:ext cx="2057400" cy="667512"/>
          </a:xfrm>
          <a:prstGeom prst="chevron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9488" y="2185416"/>
            <a:ext cx="1847088" cy="6675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5  Derivar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971800"/>
            <a:ext cx="1874519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F6B7A"/>
                </a:solidFill>
                <a:latin typeface="Aptos"/>
              </a:rPr>
              <a:t>Enlace o canal oficial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730752"/>
            <a:ext cx="334670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MVP CIUDADANO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4023360"/>
            <a:ext cx="3346704" cy="0"/>
          </a:xfrm>
          <a:prstGeom prst="line">
            <a:avLst/>
          </a:prstGeom>
          <a:ln w="1270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4160520"/>
            <a:ext cx="333756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32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Búsqueda por nombre, necesidad o institución.</a:t>
            </a:r>
          </a:p>
          <a:p>
            <a:pPr>
              <a:spcAft>
                <a:spcPts val="500"/>
              </a:spcAft>
              <a:defRPr sz="132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Ficha: pasos, requisitos, costo, horario y ubicación.</a:t>
            </a:r>
          </a:p>
          <a:p>
            <a:pPr>
              <a:spcAft>
                <a:spcPts val="500"/>
              </a:spcAft>
              <a:defRPr sz="132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Checklist, favoritos, recordatorios y caché local.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3730752"/>
            <a:ext cx="33649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478C7"/>
                </a:solidFill>
                <a:latin typeface="Aptos"/>
              </a:rPr>
              <a:t>ARQUITECTURA DE CONFIANZA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407408" y="4023360"/>
            <a:ext cx="3364992" cy="0"/>
          </a:xfrm>
          <a:prstGeom prst="line">
            <a:avLst/>
          </a:prstGeom>
          <a:ln w="1270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407408" y="4160520"/>
            <a:ext cx="3364992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32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Fuente, fecha de revisión y advertencias visibles.</a:t>
            </a:r>
          </a:p>
          <a:p>
            <a:pPr>
              <a:spcAft>
                <a:spcPts val="500"/>
              </a:spcAft>
              <a:defRPr sz="132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RAG sobre catálogo validado; salida estructurada.</a:t>
            </a:r>
          </a:p>
          <a:p>
            <a:pPr>
              <a:spcAft>
                <a:spcPts val="500"/>
              </a:spcAft>
              <a:defRPr sz="132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Abstención cuando la fuente no permite confirmar.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3730752"/>
            <a:ext cx="33832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D9A514"/>
                </a:solidFill>
                <a:latin typeface="Aptos"/>
              </a:rPr>
              <a:t>LÍMITE RESPONSABLE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156448" y="4023360"/>
            <a:ext cx="3383280" cy="0"/>
          </a:xfrm>
          <a:prstGeom prst="line">
            <a:avLst/>
          </a:prstGeom>
          <a:ln w="1270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56448" y="4160520"/>
            <a:ext cx="338328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32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No reemplaza a la institución ni decide el trámite.</a:t>
            </a:r>
          </a:p>
          <a:p>
            <a:pPr>
              <a:spcAft>
                <a:spcPts val="500"/>
              </a:spcAft>
              <a:defRPr sz="132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No modifica el catálogo a partir de un reporte.</a:t>
            </a:r>
          </a:p>
          <a:p>
            <a:pPr>
              <a:spcAft>
                <a:spcPts val="500"/>
              </a:spcAft>
              <a:defRPr sz="132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Orienta, prepara y redirige con trazabilidad.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61688" y="5843016"/>
            <a:ext cx="3493008" cy="347472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3128" y="5916168"/>
            <a:ext cx="33101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0B6B6C"/>
                </a:solidFill>
                <a:latin typeface="Aptos"/>
              </a:rPr>
              <a:t>MVP inicial: 20–30 trámites de alta demanda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Aptos"/>
              </a:rPr>
              <a:t>Fuente exclusiva: Proyecto_Final_Mi_Tramite_Bolivia_INF264.docx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04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Justificación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FACTIBILIDAD TECNOLÓGICA CON IMPACTO CIUDADANO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07008"/>
            <a:ext cx="336499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207008"/>
            <a:ext cx="73152" cy="17373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3716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0F8B8D"/>
                </a:solidFill>
                <a:latin typeface="Aptos"/>
              </a:rPr>
              <a:t>TÉCNICA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737360"/>
            <a:ext cx="2871216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17212F"/>
                </a:solidFill>
                <a:latin typeface="Aptos"/>
              </a:rPr>
              <a:t>Flutter evita duplicar apps; Go, PostgreSQL, Render y Neon son componentes maduros.</a:t>
            </a:r>
            <a:br/>
            <a:br/>
            <a:r>
              <a:t>Arquitectura modular y proveedores de IA intercambiables.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60" y="2084832"/>
            <a:ext cx="2075688" cy="877824"/>
          </a:xfrm>
          <a:prstGeom prst="line">
            <a:avLst/>
          </a:prstGeom>
          <a:ln w="1651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56448" y="1207008"/>
            <a:ext cx="336499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56448" y="1207008"/>
            <a:ext cx="73152" cy="1737360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371600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3478C7"/>
                </a:solidFill>
                <a:latin typeface="Aptos"/>
              </a:rPr>
              <a:t>ECONÓMICA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1737360"/>
            <a:ext cx="2871216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17212F"/>
                </a:solidFill>
                <a:latin typeface="Aptos"/>
              </a:rPr>
              <a:t>Costos variables al inicio y trabajo fundador como aporte en especie.</a:t>
            </a:r>
            <a:br/>
            <a:br/>
            <a:r>
              <a:t>El presupuesto separa valor económico de desembolso.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099048" y="2084832"/>
            <a:ext cx="2057400" cy="877824"/>
          </a:xfrm>
          <a:prstGeom prst="line">
            <a:avLst/>
          </a:prstGeom>
          <a:ln w="16510">
            <a:solidFill>
              <a:srgbClr val="347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8368" y="3877056"/>
            <a:ext cx="336499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877056"/>
            <a:ext cx="73152" cy="1737360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041648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D9A514"/>
                </a:solidFill>
                <a:latin typeface="Aptos"/>
              </a:rPr>
              <a:t>SOCIAL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407408"/>
            <a:ext cx="2871216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17212F"/>
                </a:solidFill>
                <a:latin typeface="Aptos"/>
              </a:rPr>
              <a:t>Menos asimetría de información, errores y desplazamientos evitables.</a:t>
            </a:r>
            <a:br/>
            <a:br/>
            <a:r>
              <a:t>Especial valor para usuarios sin gestor o experiencia previa.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023360" y="2962656"/>
            <a:ext cx="2075688" cy="1792224"/>
          </a:xfrm>
          <a:prstGeom prst="line">
            <a:avLst/>
          </a:prstGeom>
          <a:ln w="16510">
            <a:solidFill>
              <a:srgbClr val="D9A5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56448" y="3877056"/>
            <a:ext cx="3364992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3877056"/>
            <a:ext cx="73152" cy="1737360"/>
          </a:xfrm>
          <a:prstGeom prst="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4041648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7652A8"/>
                </a:solidFill>
                <a:latin typeface="Aptos"/>
              </a:rPr>
              <a:t>ACADÉMICA + INNOVADORA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4407408"/>
            <a:ext cx="2871216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>
                <a:solidFill>
                  <a:srgbClr val="17212F"/>
                </a:solidFill>
                <a:latin typeface="Aptos"/>
              </a:rPr>
              <a:t>Integra mercado, UX, software, datos, IA, seguridad y economía.</a:t>
            </a:r>
            <a:br/>
            <a:br/>
            <a:r>
              <a:t>La IA es interfaz; el catálogo versionado es la fuente.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6099048" y="2962656"/>
            <a:ext cx="2057400" cy="1792224"/>
          </a:xfrm>
          <a:prstGeom prst="line">
            <a:avLst/>
          </a:prstGeom>
          <a:ln w="16510">
            <a:solidFill>
              <a:srgbClr val="7652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07408" y="2450592"/>
            <a:ext cx="3383280" cy="1033271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2660904"/>
            <a:ext cx="2962656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tos"/>
              </a:rPr>
              <a:t>Una innovación responsable:</a:t>
            </a:r>
            <a:br/>
            <a:r>
              <a:t>reducir incertidumbre con evidencia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8848" y="4105656"/>
            <a:ext cx="3200400" cy="987552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427939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DIFERENCIAL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4572000"/>
            <a:ext cx="270662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1">
                <a:solidFill>
                  <a:srgbClr val="102A43"/>
                </a:solidFill>
                <a:latin typeface="Aptos"/>
              </a:rPr>
              <a:t>Fuente + vigencia + abstención</a:t>
            </a:r>
            <a:br/>
            <a:r>
              <a:t>son requisitos del producto.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Aptos"/>
              </a:rPr>
              <a:t>Fuente exclusiva: Proyecto_Final_Mi_Tramite_Bolivia_INF264.docx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05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Público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PILOTO ENFOCADO; EXPANSIÓN POR EVIDENCIA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70432"/>
            <a:ext cx="3419856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1417320"/>
            <a:ext cx="603504" cy="603504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41732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71600"/>
            <a:ext cx="21762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CAMILA ·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82496"/>
            <a:ext cx="21762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0F8B8D"/>
                </a:solidFill>
                <a:latin typeface="Aptos"/>
              </a:rPr>
              <a:t>ESTUDIANTE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084831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Necesidad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039112"/>
            <a:ext cx="213969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17212F"/>
                </a:solidFill>
                <a:latin typeface="Aptos"/>
              </a:rPr>
              <a:t>Legalizaciones y postulaciones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58775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Valora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542032"/>
            <a:ext cx="213969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17212F"/>
                </a:solidFill>
                <a:latin typeface="Aptos"/>
              </a:rPr>
              <a:t>Quiere fuente vigente y checklist.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170432"/>
            <a:ext cx="3419856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53712" y="1417320"/>
            <a:ext cx="603504" cy="603504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41732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6" y="1371600"/>
            <a:ext cx="21762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JOSÉ · 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1682496"/>
            <a:ext cx="21762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3478C7"/>
                </a:solidFill>
                <a:latin typeface="Aptos"/>
              </a:rPr>
              <a:t>TRABAJADOR INDEPENDIENTE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084831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Necesidad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3" y="2039112"/>
            <a:ext cx="213969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17212F"/>
                </a:solidFill>
                <a:latin typeface="Aptos"/>
              </a:rPr>
              <a:t>Formalización y secuencia de trámites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258775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Valora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3" y="2542032"/>
            <a:ext cx="213969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17212F"/>
                </a:solidFill>
                <a:latin typeface="Aptos"/>
              </a:rPr>
              <a:t>Prioriza costos, tiempos y plan.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1170432"/>
            <a:ext cx="3419856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39327" y="1417320"/>
            <a:ext cx="603504" cy="603504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141732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1" y="1371600"/>
            <a:ext cx="21762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02A43"/>
                </a:solidFill>
                <a:latin typeface="Aptos"/>
              </a:rPr>
              <a:t>MARÍA · 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1" y="1682496"/>
            <a:ext cx="21762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D97745"/>
                </a:solidFill>
                <a:latin typeface="Aptos"/>
              </a:rPr>
              <a:t>CUIDADORA FAMILIAR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2084831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Necesidad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99" y="2039112"/>
            <a:ext cx="213969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17212F"/>
                </a:solidFill>
                <a:latin typeface="Aptos"/>
              </a:rPr>
              <a:t>Gestiones para un adulto mayor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258775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Valora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3999" y="2542032"/>
            <a:ext cx="2139696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17212F"/>
                </a:solidFill>
                <a:latin typeface="Aptos"/>
              </a:rPr>
              <a:t>Necesita simplicidad y modo offline.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" y="3611880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SEGMENTOS PRIORITARIOS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" y="4005072"/>
            <a:ext cx="3456432" cy="59436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178808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3478C7"/>
                </a:solidFill>
                <a:latin typeface="Aptos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4105656"/>
            <a:ext cx="14996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1">
                <a:solidFill>
                  <a:srgbClr val="102A43"/>
                </a:solidFill>
                <a:latin typeface="Aptos"/>
              </a:rPr>
              <a:t>Ciudadanos 18–45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" y="4325112"/>
            <a:ext cx="2670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0" b="0">
                <a:solidFill>
                  <a:srgbClr val="5F6B7A"/>
                </a:solidFill>
                <a:latin typeface="Aptos"/>
              </a:rPr>
              <a:t>Búsqueda y lenguaje claro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34840" y="4005072"/>
            <a:ext cx="3456432" cy="59436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81144" y="4178808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3478C7"/>
                </a:solidFill>
                <a:latin typeface="Aptos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65192" y="4105656"/>
            <a:ext cx="14996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1">
                <a:solidFill>
                  <a:srgbClr val="102A43"/>
                </a:solidFill>
                <a:latin typeface="Aptos"/>
              </a:rPr>
              <a:t>Emprendedores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65192" y="4325112"/>
            <a:ext cx="2670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0" b="0">
                <a:solidFill>
                  <a:srgbClr val="5F6B7A"/>
                </a:solidFill>
                <a:latin typeface="Aptos"/>
              </a:rPr>
              <a:t>Costos y secuencias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38744" y="4005072"/>
            <a:ext cx="3456432" cy="59436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85048" y="4178808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3478C7"/>
                </a:solidFill>
                <a:latin typeface="Aptos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69096" y="4105656"/>
            <a:ext cx="14996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1">
                <a:solidFill>
                  <a:srgbClr val="102A43"/>
                </a:solidFill>
                <a:latin typeface="Aptos"/>
              </a:rPr>
              <a:t>Estudiantes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69096" y="4325112"/>
            <a:ext cx="2670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0" b="0">
                <a:solidFill>
                  <a:srgbClr val="5F6B7A"/>
                </a:solidFill>
                <a:latin typeface="Aptos"/>
              </a:rPr>
              <a:t>Paso a paso y recordatorios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" y="4764024"/>
            <a:ext cx="3456432" cy="59436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937760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3478C7"/>
                </a:solidFill>
                <a:latin typeface="Aptos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1288" y="4864608"/>
            <a:ext cx="14996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1">
                <a:solidFill>
                  <a:srgbClr val="102A43"/>
                </a:solidFill>
                <a:latin typeface="Aptos"/>
              </a:rPr>
              <a:t>Familias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1288" y="5084064"/>
            <a:ext cx="2670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0" b="0">
                <a:solidFill>
                  <a:srgbClr val="5F6B7A"/>
                </a:solidFill>
                <a:latin typeface="Aptos"/>
              </a:rPr>
              <a:t>Condiciones y guardado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34840" y="4764024"/>
            <a:ext cx="3456432" cy="594360"/>
          </a:xfrm>
          <a:prstGeom prst="roundRect">
            <a:avLst/>
          </a:prstGeom>
          <a:solidFill>
            <a:srgbClr val="FFF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81144" y="4937760"/>
            <a:ext cx="31089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D97745"/>
                </a:solidFill>
                <a:latin typeface="Aptos"/>
              </a:rPr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65192" y="4864608"/>
            <a:ext cx="1499616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1">
                <a:solidFill>
                  <a:srgbClr val="102A43"/>
                </a:solidFill>
                <a:latin typeface="Aptos"/>
              </a:rPr>
              <a:t>Instituciones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65192" y="5084064"/>
            <a:ext cx="2670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0" b="0">
                <a:solidFill>
                  <a:srgbClr val="5F6B7A"/>
                </a:solidFill>
                <a:latin typeface="Aptos"/>
              </a:rPr>
              <a:t>Panel, analítica y actualización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11312" y="4764024"/>
            <a:ext cx="3401568" cy="65836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4882896"/>
            <a:ext cx="1143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D9A514"/>
                </a:solidFill>
                <a:latin typeface="Aptos"/>
              </a:rPr>
              <a:t>EARLY ADOPTERS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28048" y="4818888"/>
            <a:ext cx="184708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1">
                <a:solidFill>
                  <a:srgbClr val="FFFFFF"/>
                </a:solidFill>
                <a:latin typeface="Aptos"/>
              </a:rPr>
              <a:t>UMSA · jóvenes profesionales · emprendedores de La Paz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0936" y="5742432"/>
            <a:ext cx="10981944" cy="374904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3816" y="5833872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80" b="1">
                <a:solidFill>
                  <a:srgbClr val="0B6B6C"/>
                </a:solidFill>
                <a:latin typeface="Aptos"/>
              </a:rPr>
              <a:t>Captación: centros de estudiantes · incubadoras · ferias · redes sociales · QR autorizados · programa beta · páginas por trámite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51967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Aptos"/>
              </a:rPr>
              <a:t>Fuente exclusiva: Proyecto_Final_Mi_Tramite_Bolivia_INF264.docx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06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Modelo de negocio ·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FREEMIUM CIUDADANO CON ÉNFASIS INSTITUCIONAL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51560"/>
            <a:ext cx="2189073" cy="4233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" y="1051560"/>
            <a:ext cx="2189073" cy="329184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24712"/>
            <a:ext cx="1969617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Aptos"/>
              </a:rPr>
              <a:t>SOCIOS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27048"/>
            <a:ext cx="1969617" cy="3685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91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Instituciones oficiales</a:t>
            </a:r>
          </a:p>
          <a:p>
            <a:pPr>
              <a:spcAft>
                <a:spcPts val="200"/>
              </a:spcAft>
              <a:defRPr sz="91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UMSA y entidades académicas</a:t>
            </a:r>
          </a:p>
          <a:p>
            <a:pPr>
              <a:spcAft>
                <a:spcPts val="200"/>
              </a:spcAft>
              <a:defRPr sz="91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Incubadoras</a:t>
            </a:r>
          </a:p>
          <a:p>
            <a:pPr>
              <a:spcAft>
                <a:spcPts val="200"/>
              </a:spcAft>
              <a:defRPr sz="91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Proveedores cloud</a:t>
            </a:r>
          </a:p>
          <a:p>
            <a:pPr>
              <a:spcAft>
                <a:spcPts val="200"/>
              </a:spcAft>
              <a:defRPr sz="91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Expertos legales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01137" y="1051560"/>
            <a:ext cx="2189073" cy="20802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01137" y="1051560"/>
            <a:ext cx="2189073" cy="329184"/>
          </a:xfrm>
          <a:prstGeom prst="round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0865" y="1124712"/>
            <a:ext cx="1969617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Aptos"/>
              </a:rPr>
              <a:t>ACTIVIDADES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0865" y="1527048"/>
            <a:ext cx="1969617" cy="153161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Curación oficial</a:t>
            </a:r>
          </a:p>
          <a:p>
            <a:pPr>
              <a:spcAft>
                <a:spcPts val="200"/>
              </a:spcAft>
              <a:defRPr sz="9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Desarrollo y monitoreo</a:t>
            </a:r>
          </a:p>
          <a:p>
            <a:pPr>
              <a:spcAft>
                <a:spcPts val="200"/>
              </a:spcAft>
              <a:defRPr sz="9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Evaluación de IA</a:t>
            </a:r>
          </a:p>
          <a:p>
            <a:pPr>
              <a:spcAft>
                <a:spcPts val="200"/>
              </a:spcAft>
              <a:defRPr sz="9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Adquisición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01137" y="3204972"/>
            <a:ext cx="2189073" cy="20802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01137" y="3204972"/>
            <a:ext cx="2189073" cy="329184"/>
          </a:xfrm>
          <a:prstGeom prst="round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0865" y="3278124"/>
            <a:ext cx="1969617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Aptos"/>
              </a:rPr>
              <a:t>RECURSOS CLAVE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0865" y="3680460"/>
            <a:ext cx="1969617" cy="153161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Catálogo validado</a:t>
            </a:r>
          </a:p>
          <a:p>
            <a:pPr>
              <a:spcAft>
                <a:spcPts val="200"/>
              </a:spcAft>
              <a:defRPr sz="9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Equipo y arquitectura IA</a:t>
            </a:r>
          </a:p>
          <a:p>
            <a:pPr>
              <a:spcAft>
                <a:spcPts val="200"/>
              </a:spcAft>
              <a:defRPr sz="9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Marca y relaciones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63363" y="1051560"/>
            <a:ext cx="2189073" cy="4233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63363" y="1051560"/>
            <a:ext cx="2189073" cy="329184"/>
          </a:xfrm>
          <a:prstGeom prst="round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3091" y="1124712"/>
            <a:ext cx="1969617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Aptos"/>
              </a:rPr>
              <a:t>PROPUESTA DE VALOR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3091" y="1527048"/>
            <a:ext cx="1969617" cy="3685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019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Guía verificable y personalizada</a:t>
            </a:r>
          </a:p>
          <a:p>
            <a:pPr>
              <a:spcAft>
                <a:spcPts val="200"/>
              </a:spcAft>
              <a:defRPr sz="1019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Checklist con fuentes oficiales</a:t>
            </a:r>
          </a:p>
          <a:p>
            <a:pPr>
              <a:spcAft>
                <a:spcPts val="200"/>
              </a:spcAft>
              <a:defRPr sz="1019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Ahorro de tiempo</a:t>
            </a:r>
          </a:p>
          <a:p>
            <a:pPr>
              <a:spcAft>
                <a:spcPts val="200"/>
              </a:spcAft>
              <a:defRPr sz="1019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IA con límites explícitos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5588" y="1051560"/>
            <a:ext cx="2189073" cy="20802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25588" y="1051560"/>
            <a:ext cx="2189073" cy="329184"/>
          </a:xfrm>
          <a:prstGeom prst="round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5316" y="1124712"/>
            <a:ext cx="1969617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Aptos"/>
              </a:rPr>
              <a:t>RELACIÓN CON CLIENTES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5316" y="1527048"/>
            <a:ext cx="1969617" cy="153161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Autoservicio con IA</a:t>
            </a:r>
          </a:p>
          <a:p>
            <a:pPr>
              <a:spcAft>
                <a:spcPts val="200"/>
              </a:spcAft>
              <a:defRPr sz="9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Comunidad beta</a:t>
            </a:r>
          </a:p>
          <a:p>
            <a:pPr>
              <a:spcAft>
                <a:spcPts val="200"/>
              </a:spcAft>
              <a:defRPr sz="9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Acompañamiento institucional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5588" y="3204972"/>
            <a:ext cx="2189073" cy="20802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25588" y="3204972"/>
            <a:ext cx="2189073" cy="329184"/>
          </a:xfrm>
          <a:prstGeom prst="round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5316" y="3278124"/>
            <a:ext cx="1969617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Aptos"/>
              </a:rPr>
              <a:t>CANALES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5316" y="3680460"/>
            <a:ext cx="1969617" cy="153161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App y sitio público</a:t>
            </a:r>
          </a:p>
          <a:p>
            <a:pPr>
              <a:spcAft>
                <a:spcPts val="200"/>
              </a:spcAft>
              <a:defRPr sz="9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Alianzas y redes</a:t>
            </a:r>
          </a:p>
          <a:p>
            <a:pPr>
              <a:spcAft>
                <a:spcPts val="200"/>
              </a:spcAft>
              <a:defRPr sz="9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Pilotos y QR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87814" y="1051560"/>
            <a:ext cx="2189073" cy="4233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87814" y="1051560"/>
            <a:ext cx="2189073" cy="329184"/>
          </a:xfrm>
          <a:prstGeom prst="roundRect">
            <a:avLst/>
          </a:prstGeom>
          <a:solidFill>
            <a:srgbClr val="0B6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97542" y="1124712"/>
            <a:ext cx="1969617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Aptos"/>
              </a:rPr>
              <a:t>SEGMENTOS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97542" y="1527048"/>
            <a:ext cx="1969617" cy="3685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Ciudadanos 18–45</a:t>
            </a:r>
          </a:p>
          <a:p>
            <a:pPr>
              <a:spcAft>
                <a:spcPts val="200"/>
              </a:spcAft>
              <a:defRPr sz="10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Emprendedores</a:t>
            </a:r>
          </a:p>
          <a:p>
            <a:pPr>
              <a:spcAft>
                <a:spcPts val="200"/>
              </a:spcAft>
              <a:defRPr sz="10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Estudiantes y familias</a:t>
            </a:r>
          </a:p>
          <a:p>
            <a:pPr>
              <a:spcAft>
                <a:spcPts val="200"/>
              </a:spcAft>
              <a:defRPr sz="100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Instituciones con alta demanda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" y="5358383"/>
            <a:ext cx="561898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8912" y="5358383"/>
            <a:ext cx="5618988" cy="329184"/>
          </a:xfrm>
          <a:prstGeom prst="roundRect">
            <a:avLst/>
          </a:prstGeom>
          <a:solidFill>
            <a:srgbClr val="C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431536"/>
            <a:ext cx="5399531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Aptos"/>
              </a:rPr>
              <a:t>ESTRUCTURA DE COSTOS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833871"/>
            <a:ext cx="5399531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96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IA · nube · curación · soporte · seguridad · marketing · desarrollo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31051" y="5358383"/>
            <a:ext cx="561898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31051" y="5358383"/>
            <a:ext cx="5618988" cy="329184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40779" y="5431536"/>
            <a:ext cx="5399531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9" b="1">
                <a:solidFill>
                  <a:srgbClr val="FFFFFF"/>
                </a:solidFill>
                <a:latin typeface="Aptos"/>
              </a:rPr>
              <a:t>FUENTES DE INGRESO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0779" y="5833871"/>
            <a:ext cx="5399531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  <a:defRPr sz="960">
                <a:solidFill>
                  <a:srgbClr val="17212F"/>
                </a:solidFill>
                <a:latin typeface="Aptos"/>
              </a:defRPr>
            </a:pPr>
            <a:r>
              <a:rPr>
                <a:solidFill>
                  <a:srgbClr val="17212F"/>
                </a:solidFill>
              </a:rPr>
              <a:t>•  Premium · licencias B2B · white-label · API/analítica agregada · consultoría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90672" y="6336792"/>
            <a:ext cx="6035040" cy="2286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0" y="6368796"/>
            <a:ext cx="5815584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Principio: la información esencial sigue siendo gratuita; no se venden datos personales.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1967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Aptos"/>
              </a:rPr>
              <a:t>Fuente exclusiva: Proyecto_Final_Mi_Tramite_Bolivia_INF264.docx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BFD8E8"/>
                </a:solidFill>
                <a:latin typeface="Aptos"/>
              </a:rPr>
              <a:t>07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BF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Tecnologías a utilizar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BFD8E8"/>
                </a:solidFill>
                <a:latin typeface="Aptos"/>
              </a:rPr>
              <a:t>MONOLITO MODULAR, PROVEEDORES INTERCAMBIABLES Y SEGURIDAD POR DISEÑO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152144"/>
            <a:ext cx="6062472" cy="896112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152144"/>
            <a:ext cx="91440" cy="89611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280160"/>
            <a:ext cx="11247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CLIENTES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5104" y="1252728"/>
            <a:ext cx="441655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Flutter · Dart · Riverpod · Dio · Drift</a:t>
            </a:r>
            <a:br/>
            <a:r>
              <a:t>App Android/iOS + panel Flutter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993392"/>
            <a:ext cx="274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AFC2D3"/>
                </a:solidFill>
                <a:latin typeface="Apto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322576"/>
            <a:ext cx="6062472" cy="896112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2322576"/>
            <a:ext cx="91440" cy="896112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450592"/>
            <a:ext cx="11247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3478C7"/>
                </a:solidFill>
                <a:latin typeface="Aptos"/>
              </a:rPr>
              <a:t>API Y NEGOCIO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423160"/>
            <a:ext cx="441655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Go · Gin · REST/OpenAPI · pgx · sqlc · Goose</a:t>
            </a:r>
            <a:br/>
            <a:r>
              <a:t>Identidad · catálogo · checklist · asistente · auditoría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3163824"/>
            <a:ext cx="274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AFC2D3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493008"/>
            <a:ext cx="6062472" cy="896112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493008"/>
            <a:ext cx="91440" cy="89611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621024"/>
            <a:ext cx="11247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2E8B57"/>
                </a:solidFill>
                <a:latin typeface="Aptos"/>
              </a:rPr>
              <a:t>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5104" y="3593592"/>
            <a:ext cx="441655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PostgreSQL en Neon · full-text search · pgvector opcional</a:t>
            </a:r>
            <a:br/>
            <a:r>
              <a:t>Versiones inmutables · fuentes · reglas ·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4334256"/>
            <a:ext cx="274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AFC2D3"/>
                </a:solidFill>
                <a:latin typeface="Aptos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663440"/>
            <a:ext cx="6062472" cy="896112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4663440"/>
            <a:ext cx="91440" cy="896112"/>
          </a:xfrm>
          <a:prstGeom prst="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791455"/>
            <a:ext cx="11247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7652A8"/>
                </a:solidFill>
                <a:latin typeface="Aptos"/>
              </a:rPr>
              <a:t>OPERACIÓN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75104" y="4764024"/>
            <a:ext cx="4416552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>
                <a:solidFill>
                  <a:srgbClr val="FFFFFF"/>
                </a:solidFill>
                <a:latin typeface="Aptos"/>
              </a:rPr>
              <a:t>Render · Docker · GitHub Actions</a:t>
            </a:r>
            <a:br/>
            <a:r>
              <a:t>CI/CD · logs JSON · métricas · alertas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1188720"/>
            <a:ext cx="22311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D9A514"/>
                </a:solidFill>
                <a:latin typeface="Aptos"/>
              </a:rPr>
              <a:t>FLUJO RAG CONTROLADO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14032" y="1609344"/>
            <a:ext cx="4370832" cy="566928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78624" y="1719072"/>
            <a:ext cx="329184" cy="329184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78624" y="17190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1700784"/>
            <a:ext cx="34015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20" b="1">
                <a:solidFill>
                  <a:srgbClr val="102A43"/>
                </a:solidFill>
                <a:latin typeface="Aptos"/>
              </a:rPr>
              <a:t>Consulta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148840"/>
            <a:ext cx="274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AFC2D3"/>
                </a:solidFill>
                <a:latin typeface="Aptos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14032" y="2395728"/>
            <a:ext cx="4370832" cy="566928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78624" y="2505456"/>
            <a:ext cx="329184" cy="329184"/>
          </a:xfrm>
          <a:prstGeom prst="ellipse">
            <a:avLst/>
          </a:prstGeom>
          <a:solidFill>
            <a:srgbClr val="0B6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78624" y="250545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2487168"/>
            <a:ext cx="34015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20" b="1">
                <a:solidFill>
                  <a:srgbClr val="102A43"/>
                </a:solidFill>
                <a:latin typeface="Aptos"/>
              </a:rPr>
              <a:t>Recuperación del catálogo aprobado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935224"/>
            <a:ext cx="274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AFC2D3"/>
                </a:solidFill>
                <a:latin typeface="Aptos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14032" y="3182112"/>
            <a:ext cx="4370832" cy="566928"/>
          </a:xfrm>
          <a:prstGeom prst="roundRect">
            <a:avLst/>
          </a:prstGeom>
          <a:solidFill>
            <a:srgbClr val="FFF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78624" y="3291840"/>
            <a:ext cx="329184" cy="329184"/>
          </a:xfrm>
          <a:prstGeom prst="ellipse">
            <a:avLst/>
          </a:prstGeom>
          <a:solidFill>
            <a:srgbClr val="D97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78624" y="32918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3273552"/>
            <a:ext cx="34015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20" b="1">
                <a:solidFill>
                  <a:srgbClr val="102A43"/>
                </a:solidFill>
                <a:latin typeface="Aptos"/>
              </a:rPr>
              <a:t>Gemini / Qwen</a:t>
            </a:r>
            <a:br/>
            <a:r>
              <a:t>JSON Schema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721608"/>
            <a:ext cx="274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AFC2D3"/>
                </a:solidFill>
                <a:latin typeface="Aptos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14032" y="3968496"/>
            <a:ext cx="4370832" cy="566928"/>
          </a:xfrm>
          <a:prstGeom prst="roundRect">
            <a:avLst/>
          </a:prstGeom>
          <a:solidFill>
            <a:srgbClr val="FC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278624" y="4078224"/>
            <a:ext cx="329184" cy="329184"/>
          </a:xfrm>
          <a:prstGeom prst="ellipse">
            <a:avLst/>
          </a:prstGeom>
          <a:solidFill>
            <a:srgbClr val="C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78624" y="407822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90688" y="4059935"/>
            <a:ext cx="34015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20" b="1">
                <a:solidFill>
                  <a:srgbClr val="102A43"/>
                </a:solidFill>
                <a:latin typeface="Aptos"/>
              </a:rPr>
              <a:t>Validación: estructura + fuentes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507992"/>
            <a:ext cx="274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AFC2D3"/>
                </a:solidFill>
                <a:latin typeface="Aptos"/>
              </a:rPr>
              <a:t>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14032" y="4754880"/>
            <a:ext cx="4370832" cy="566928"/>
          </a:xfrm>
          <a:prstGeom prst="roundRect">
            <a:avLst/>
          </a:prstGeom>
          <a:solidFill>
            <a:srgbClr val="E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278624" y="4864608"/>
            <a:ext cx="329184" cy="329184"/>
          </a:xfrm>
          <a:prstGeom prst="ellipse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78624" y="486460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90688" y="4846320"/>
            <a:ext cx="34015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20" b="1">
                <a:solidFill>
                  <a:srgbClr val="102A43"/>
                </a:solidFill>
                <a:latin typeface="Aptos"/>
              </a:rPr>
              <a:t>Guía o abstención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14032" y="5788152"/>
            <a:ext cx="4370832" cy="448056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69480" y="5916168"/>
            <a:ext cx="40416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40" b="1">
                <a:solidFill>
                  <a:srgbClr val="C7DBE8"/>
                </a:solidFill>
                <a:latin typeface="Aptos"/>
              </a:rPr>
              <a:t>TLS · RBAC · JWT · secretos · rate limiting · auditoría · OWASP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51967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AFC2D3"/>
                </a:solidFill>
                <a:latin typeface="Aptos"/>
              </a:rPr>
              <a:t>Fuente exclusiva: Proyecto_Final_Mi_Tramite_Bolivia_INF264.docx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AFC2D3"/>
                </a:solidFill>
                <a:latin typeface="Aptos"/>
              </a:rPr>
              <a:t>MI TRÁMITE BOLIVIA  /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08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Prototipo o maquetado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LENGUAJE SIMPLE, EVIDENCIA VISIBLE Y PREPARACIÓN ACCIONABLE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133856"/>
            <a:ext cx="2331720" cy="452628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1234440"/>
            <a:ext cx="2148839" cy="4325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89227" y="1179576"/>
            <a:ext cx="652881" cy="73152"/>
          </a:xfrm>
          <a:prstGeom prst="roundRect">
            <a:avLst/>
          </a:prstGeom>
          <a:solidFill>
            <a:srgbClr val="20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426464"/>
            <a:ext cx="1856231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Inicio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" y="1865376"/>
            <a:ext cx="1892807" cy="41148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1975104"/>
            <a:ext cx="1645919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0" b="0">
                <a:solidFill>
                  <a:srgbClr val="5F6B7A"/>
                </a:solidFill>
                <a:latin typeface="Aptos"/>
              </a:rPr>
              <a:t>¿Qué trámite necesitas?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" y="2478024"/>
            <a:ext cx="1892807" cy="393192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578608"/>
            <a:ext cx="1600199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2A43"/>
                </a:solidFill>
                <a:latin typeface="Aptos"/>
              </a:rPr>
              <a:t>Cédula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" y="2999232"/>
            <a:ext cx="1892807" cy="393192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099816"/>
            <a:ext cx="1600199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2A43"/>
                </a:solidFill>
                <a:latin typeface="Aptos"/>
              </a:rPr>
              <a:t>Certificados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" y="3520439"/>
            <a:ext cx="1892807" cy="393192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621024"/>
            <a:ext cx="1600199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2A43"/>
                </a:solidFill>
                <a:latin typeface="Aptos"/>
              </a:rPr>
              <a:t>Negocio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" y="4178808"/>
            <a:ext cx="1892807" cy="48463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325112"/>
            <a:ext cx="169163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Preguntar al asistente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12463" y="1133856"/>
            <a:ext cx="2331720" cy="452628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03903" y="1234440"/>
            <a:ext cx="2148839" cy="4325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51883" y="1179576"/>
            <a:ext cx="652881" cy="73152"/>
          </a:xfrm>
          <a:prstGeom prst="roundRect">
            <a:avLst/>
          </a:prstGeom>
          <a:solidFill>
            <a:srgbClr val="20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50207" y="1426464"/>
            <a:ext cx="1856231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Ficha del trámite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1856232"/>
            <a:ext cx="932688" cy="256032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86783" y="1929384"/>
            <a:ext cx="813816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1">
                <a:solidFill>
                  <a:srgbClr val="0B6B6C"/>
                </a:solidFill>
                <a:latin typeface="Aptos"/>
              </a:rPr>
              <a:t>PRESENCIAL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1901952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40" b="0">
                <a:solidFill>
                  <a:srgbClr val="5F6B7A"/>
                </a:solidFill>
                <a:latin typeface="Aptos"/>
              </a:rPr>
              <a:t>Verificado: fecha visible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8496" y="2368296"/>
            <a:ext cx="182879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102A43"/>
                </a:solidFill>
                <a:latin typeface="Aptos"/>
              </a:rPr>
              <a:t>Requisitos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8496" y="2596896"/>
            <a:ext cx="182879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5F6B7A"/>
                </a:solidFill>
                <a:latin typeface="Aptos"/>
              </a:rPr>
              <a:t>Obligatorios + condicionales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968496" y="2843784"/>
            <a:ext cx="1819655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68496" y="3026663"/>
            <a:ext cx="182879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102A43"/>
                </a:solidFill>
                <a:latin typeface="Aptos"/>
              </a:rPr>
              <a:t>Costo y horario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8496" y="3255263"/>
            <a:ext cx="182879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5F6B7A"/>
                </a:solidFill>
                <a:latin typeface="Aptos"/>
              </a:rPr>
              <a:t>Datos referenciales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968496" y="3502151"/>
            <a:ext cx="1819655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968496" y="3685031"/>
            <a:ext cx="182879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102A43"/>
                </a:solidFill>
                <a:latin typeface="Aptos"/>
              </a:rPr>
              <a:t>Ubicación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68496" y="3913631"/>
            <a:ext cx="182879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0">
                <a:solidFill>
                  <a:srgbClr val="5F6B7A"/>
                </a:solidFill>
                <a:latin typeface="Aptos"/>
              </a:rPr>
              <a:t>Dirección y mapa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968496" y="4160519"/>
            <a:ext cx="1819655" cy="0"/>
          </a:xfrm>
          <a:prstGeom prst="line">
            <a:avLst/>
          </a:prstGeom>
          <a:ln w="1016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931920" y="4517136"/>
            <a:ext cx="1892807" cy="42976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32503" y="4645152"/>
            <a:ext cx="1691639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Ver fuente oficial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1133856"/>
            <a:ext cx="2331720" cy="452628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766559" y="1234440"/>
            <a:ext cx="2148839" cy="4325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14539" y="1179576"/>
            <a:ext cx="652881" cy="73152"/>
          </a:xfrm>
          <a:prstGeom prst="roundRect">
            <a:avLst/>
          </a:prstGeom>
          <a:solidFill>
            <a:srgbClr val="203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12864" y="1426464"/>
            <a:ext cx="1856231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Aptos"/>
              </a:rPr>
              <a:t>Checklist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31152" y="1938528"/>
            <a:ext cx="237744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22008" y="1920240"/>
            <a:ext cx="256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0F8B8D"/>
                </a:solidFill>
                <a:latin typeface="Aptos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87768" y="1956816"/>
            <a:ext cx="1435607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90" b="1">
                <a:solidFill>
                  <a:srgbClr val="102A43"/>
                </a:solidFill>
                <a:latin typeface="Aptos"/>
              </a:rPr>
              <a:t>Documento de identidad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31152" y="2496312"/>
            <a:ext cx="237744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22008" y="2478024"/>
            <a:ext cx="2560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0F8B8D"/>
                </a:solidFill>
                <a:latin typeface="Aptos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87768" y="2514600"/>
            <a:ext cx="1435607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90" b="1">
                <a:solidFill>
                  <a:srgbClr val="102A43"/>
                </a:solidFill>
                <a:latin typeface="Aptos"/>
              </a:rPr>
              <a:t>Formulario vigente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31152" y="3054096"/>
            <a:ext cx="237744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87768" y="3072384"/>
            <a:ext cx="1435607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90" b="0">
                <a:solidFill>
                  <a:srgbClr val="102A43"/>
                </a:solidFill>
                <a:latin typeface="Aptos"/>
              </a:rPr>
              <a:t>Comprobante requerido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31152" y="3611880"/>
            <a:ext cx="237744" cy="237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87768" y="3630168"/>
            <a:ext cx="1435607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90" b="0">
                <a:solidFill>
                  <a:srgbClr val="102A43"/>
                </a:solidFill>
                <a:latin typeface="Aptos"/>
              </a:rPr>
              <a:t>Condición especial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12864" y="4379976"/>
            <a:ext cx="1856231" cy="512064"/>
          </a:xfrm>
          <a:prstGeom prst="roundRect">
            <a:avLst/>
          </a:prstGeom>
          <a:solidFill>
            <a:srgbClr val="FFF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40880" y="4489704"/>
            <a:ext cx="160019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30" b="1">
                <a:solidFill>
                  <a:srgbClr val="D97745"/>
                </a:solidFill>
                <a:latin typeface="Aptos"/>
              </a:rPr>
              <a:t>Progreso guardado</a:t>
            </a:r>
            <a:br/>
            <a:r>
              <a:t>para varios días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64208" y="5797296"/>
            <a:ext cx="32918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5" name="Oval 54"/>
          <p:cNvSpPr/>
          <p:nvPr/>
        </p:nvSpPr>
        <p:spPr>
          <a:xfrm>
            <a:off x="1691640" y="5724144"/>
            <a:ext cx="329184" cy="329184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91640" y="572414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5769864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Buscar o preguntar</a:t>
            </a:r>
          </a:p>
        </p:txBody>
      </p:sp>
      <p:sp>
        <p:nvSpPr>
          <p:cNvPr id="58" name="Oval 57"/>
          <p:cNvSpPr/>
          <p:nvPr/>
        </p:nvSpPr>
        <p:spPr>
          <a:xfrm>
            <a:off x="4626864" y="5724144"/>
            <a:ext cx="329184" cy="329184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26864" y="572414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38344" y="5769864"/>
            <a:ext cx="13898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Verificar evidencia</a:t>
            </a:r>
          </a:p>
        </p:txBody>
      </p:sp>
      <p:sp>
        <p:nvSpPr>
          <p:cNvPr id="61" name="Oval 60"/>
          <p:cNvSpPr/>
          <p:nvPr/>
        </p:nvSpPr>
        <p:spPr>
          <a:xfrm>
            <a:off x="7589520" y="5724144"/>
            <a:ext cx="329184" cy="329184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89520" y="572414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Aptos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01000" y="5769864"/>
            <a:ext cx="144475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Preparar documentos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82912" y="1152144"/>
            <a:ext cx="1938528" cy="450799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38944" y="1435608"/>
            <a:ext cx="14447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D9A514"/>
                </a:solidFill>
                <a:latin typeface="Aptos"/>
              </a:rPr>
              <a:t>PRINCIPIOS UX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02368" y="1847088"/>
            <a:ext cx="1508760" cy="2606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019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Solo preguntar lo necesario.</a:t>
            </a:r>
          </a:p>
          <a:p>
            <a:pPr>
              <a:spcAft>
                <a:spcPts val="700"/>
              </a:spcAft>
              <a:defRPr sz="1019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Explicar por qué cambia el checklist.</a:t>
            </a:r>
          </a:p>
          <a:p>
            <a:pPr>
              <a:spcAft>
                <a:spcPts val="700"/>
              </a:spcAft>
              <a:defRPr sz="1019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Mostrar modalidad y fecha.</a:t>
            </a:r>
          </a:p>
          <a:p>
            <a:pPr>
              <a:spcAft>
                <a:spcPts val="700"/>
              </a:spcAft>
              <a:defRPr sz="1019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Botón “Ver fuente oficial”.</a:t>
            </a:r>
          </a:p>
          <a:p>
            <a:pPr>
              <a:spcAft>
                <a:spcPts val="700"/>
              </a:spcAft>
              <a:defRPr sz="1019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Tolerar conectividad limitada.</a:t>
            </a:r>
          </a:p>
          <a:p>
            <a:pPr>
              <a:spcAft>
                <a:spcPts val="700"/>
              </a:spcAft>
              <a:defRPr sz="1019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Orientar; no afirmar que tramita.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802368" y="4773168"/>
            <a:ext cx="1508760" cy="566928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93808" y="4882896"/>
            <a:ext cx="1325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C7DBE8"/>
                </a:solidFill>
                <a:latin typeface="Aptos"/>
              </a:rPr>
              <a:t>Prueba: ≥10 participantes</a:t>
            </a:r>
            <a:br/>
            <a:r>
              <a:t>× 3 tareas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651967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Aptos"/>
              </a:rPr>
              <a:t>Fuente exclusiva: Proyecto_Final_Mi_Tramite_Bolivia_INF264.docx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09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Análisis de mercado y competencia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COMPLEMENTO INTEROPERABLE, NO SUSTITUTO DEL ESTADO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97280"/>
            <a:ext cx="11000232" cy="57607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61872"/>
            <a:ext cx="104515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El ciudadano piensa en una necesidad; la oferta actual está organizada por institución.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2542032" cy="39319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66543"/>
            <a:ext cx="2322576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ALTERNATIVA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956816"/>
            <a:ext cx="3108960" cy="39319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2066543"/>
            <a:ext cx="288950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FORTALEZA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1956816"/>
            <a:ext cx="4983480" cy="39319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066543"/>
            <a:ext cx="476402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BRECHA / POSICIÓN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368296"/>
            <a:ext cx="25420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450591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17212F"/>
                </a:solidFill>
                <a:latin typeface="Aptos"/>
              </a:rPr>
              <a:t>Portal gob.bo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236829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2450591"/>
            <a:ext cx="28986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17212F"/>
                </a:solidFill>
                <a:latin typeface="Aptos"/>
              </a:rPr>
              <a:t>Catálogo oficial centralizado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368296"/>
            <a:ext cx="4983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450591"/>
            <a:ext cx="4773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17212F"/>
                </a:solidFill>
                <a:latin typeface="Aptos"/>
              </a:rPr>
              <a:t>Referencia principal; Mi Trámite añade conversación, checklist y personalización.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880360"/>
            <a:ext cx="2542032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962656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17212F"/>
                </a:solidFill>
                <a:latin typeface="Aptos"/>
              </a:rPr>
              <a:t>Ciudadanía Digital / PTC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2880360"/>
            <a:ext cx="31089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9856" y="2962656"/>
            <a:ext cx="28986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17212F"/>
                </a:solidFill>
                <a:latin typeface="Aptos"/>
              </a:rPr>
              <a:t>Identidad, notificación y ejecución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2880360"/>
            <a:ext cx="49834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2962656"/>
            <a:ext cx="4773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17212F"/>
                </a:solidFill>
                <a:latin typeface="Aptos"/>
              </a:rPr>
              <a:t>Aliado potencial; Mi Trámite actúa en la orientación previa.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392424"/>
            <a:ext cx="25420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474720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17212F"/>
                </a:solidFill>
                <a:latin typeface="Aptos"/>
              </a:rPr>
              <a:t>Portales institucionales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0128" y="3392424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19856" y="3474720"/>
            <a:ext cx="28986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17212F"/>
                </a:solidFill>
                <a:latin typeface="Aptos"/>
              </a:rPr>
              <a:t>Alta autoridad por entidad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3392424"/>
            <a:ext cx="4983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7688" y="3474720"/>
            <a:ext cx="4773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17212F"/>
                </a:solidFill>
                <a:latin typeface="Aptos"/>
              </a:rPr>
              <a:t>Experiencia fragmentada entre instituciones.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904487"/>
            <a:ext cx="2542032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3986783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17212F"/>
                </a:solidFill>
                <a:latin typeface="Aptos"/>
              </a:rPr>
              <a:t>Buscadores y redes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10128" y="3904487"/>
            <a:ext cx="31089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19856" y="3986783"/>
            <a:ext cx="28986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17212F"/>
                </a:solidFill>
                <a:latin typeface="Aptos"/>
              </a:rPr>
              <a:t>Acceso rápido y comunitario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3904487"/>
            <a:ext cx="49834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47688" y="3986783"/>
            <a:ext cx="4773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17212F"/>
                </a:solidFill>
                <a:latin typeface="Aptos"/>
              </a:rPr>
              <a:t>Riesgo de desactualización y poca trazabilidad.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416552"/>
            <a:ext cx="25420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4498848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17212F"/>
                </a:solidFill>
                <a:latin typeface="Aptos"/>
              </a:rPr>
              <a:t>Tramitadores informales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10128" y="441655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19856" y="4498848"/>
            <a:ext cx="28986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17212F"/>
                </a:solidFill>
                <a:latin typeface="Aptos"/>
              </a:rPr>
              <a:t>Orientación humana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4416552"/>
            <a:ext cx="4983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47688" y="4498848"/>
            <a:ext cx="4773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30" b="0">
                <a:solidFill>
                  <a:srgbClr val="17212F"/>
                </a:solidFill>
                <a:latin typeface="Aptos"/>
              </a:rPr>
              <a:t>Puede ser costosa, opaca o no verificable.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928616"/>
            <a:ext cx="2542032" cy="475488"/>
          </a:xfrm>
          <a:prstGeom prst="rect">
            <a:avLst/>
          </a:prstGeom>
          <a:solidFill>
            <a:srgbClr val="E8F5F4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5010912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60" b="1">
                <a:solidFill>
                  <a:srgbClr val="102A43"/>
                </a:solidFill>
                <a:latin typeface="Aptos"/>
              </a:rPr>
              <a:t>Mi Trámite Bolivia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10128" y="4928616"/>
            <a:ext cx="3108960" cy="475488"/>
          </a:xfrm>
          <a:prstGeom prst="rect">
            <a:avLst/>
          </a:prstGeom>
          <a:solidFill>
            <a:srgbClr val="E8F5F4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19856" y="5010912"/>
            <a:ext cx="289864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60" b="1">
                <a:solidFill>
                  <a:srgbClr val="102A43"/>
                </a:solidFill>
                <a:latin typeface="Aptos"/>
              </a:rPr>
              <a:t>Guía móvil, transversal y versionada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37960" y="4928616"/>
            <a:ext cx="4983480" cy="475488"/>
          </a:xfrm>
          <a:prstGeom prst="rect">
            <a:avLst/>
          </a:prstGeom>
          <a:solidFill>
            <a:srgbClr val="E8F5F4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47688" y="5010912"/>
            <a:ext cx="47731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60" b="1">
                <a:solidFill>
                  <a:srgbClr val="102A43"/>
                </a:solidFill>
                <a:latin typeface="Aptos"/>
              </a:rPr>
              <a:t>Diferencia: caso personal + fuente + checklist + IA controlada.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5669280"/>
            <a:ext cx="14173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ENTRADA AL MERCADO</a:t>
            </a:r>
          </a:p>
        </p:txBody>
      </p:sp>
      <p:sp>
        <p:nvSpPr>
          <p:cNvPr id="51" name="Oval 50"/>
          <p:cNvSpPr/>
          <p:nvPr/>
        </p:nvSpPr>
        <p:spPr>
          <a:xfrm>
            <a:off x="2194560" y="5596128"/>
            <a:ext cx="310896" cy="310896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94560" y="55961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96896" y="5614416"/>
            <a:ext cx="1325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La Paz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730752" y="5760720"/>
            <a:ext cx="237744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4041648" y="5596128"/>
            <a:ext cx="310896" cy="310896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41648" y="55961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43984" y="5614416"/>
            <a:ext cx="1325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20–30 trámites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577840" y="5760720"/>
            <a:ext cx="237743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5888736" y="5596128"/>
            <a:ext cx="310896" cy="310896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88736" y="55961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1072" y="5614416"/>
            <a:ext cx="1325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Piloto universitario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424927" y="5760720"/>
            <a:ext cx="237744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7735824" y="5596128"/>
            <a:ext cx="310896" cy="310896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35824" y="55961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02A43"/>
                </a:solidFill>
                <a:latin typeface="Aptos"/>
              </a:rPr>
              <a:t>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5614416"/>
            <a:ext cx="1325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Demo institucional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272016" y="5760720"/>
            <a:ext cx="237744" cy="0"/>
          </a:xfrm>
          <a:prstGeom prst="line">
            <a:avLst/>
          </a:prstGeom>
          <a:ln w="15240">
            <a:solidFill>
              <a:srgbClr val="D7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9582912" y="5596128"/>
            <a:ext cx="310896" cy="310896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82912" y="559612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102A43"/>
                </a:solidFill>
                <a:latin typeface="Aptos"/>
              </a:rPr>
              <a:t>05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85248" y="5614416"/>
            <a:ext cx="1325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02A43"/>
                </a:solidFill>
                <a:latin typeface="Aptos"/>
              </a:rPr>
              <a:t>Expansión por paquetes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00400" y="6108192"/>
            <a:ext cx="5870448" cy="274320"/>
          </a:xfrm>
          <a:prstGeom prst="roundRect">
            <a:avLst/>
          </a:prstGeom>
          <a:solidFill>
            <a:srgbClr val="FFF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91840" y="6176772"/>
            <a:ext cx="5687568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69" b="1">
                <a:solidFill>
                  <a:srgbClr val="D97745"/>
                </a:solidFill>
                <a:latin typeface="Aptos"/>
              </a:rPr>
              <a:t>Diferencial: personalización · trazabilidad · móvil · RAG con abstención · enfoque boliviano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651967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Aptos"/>
              </a:rPr>
              <a:t>Fuente exclusiva: Proyecto_Final_Mi_Tramite_Bolivia_INF264.docx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Estudio económico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VALOR DEL TRABAJO, EFECTIVO REQUERIDO Y EQUILIBRIO OPERATIVO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78992"/>
            <a:ext cx="342900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73152" cy="98755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88719"/>
            <a:ext cx="31089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Aptos"/>
              </a:rPr>
              <a:t>97.350 Bs.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19"/>
            <a:ext cx="3108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Valor económico total del MVP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078992"/>
            <a:ext cx="342900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078992"/>
            <a:ext cx="73152" cy="98755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188719"/>
            <a:ext cx="31089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Aptos"/>
              </a:rPr>
              <a:t>24.500 Bs.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108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Desembolso estimado con aporte fundador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5592" y="1078992"/>
            <a:ext cx="342900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65592" y="1078992"/>
            <a:ext cx="73152" cy="987552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188719"/>
            <a:ext cx="31089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02A43"/>
                </a:solidFill>
                <a:latin typeface="Aptos"/>
              </a:rPr>
              <a:t>6.000 Bs./mes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1645919"/>
            <a:ext cx="310896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Costo operativo sostenible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395728"/>
            <a:ext cx="3017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INVERSIÓN INICIAL · valor vs. desembolso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734056"/>
            <a:ext cx="10515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90" b="0">
                <a:solidFill>
                  <a:srgbClr val="5F6B7A"/>
                </a:solidFill>
                <a:latin typeface="Aptos"/>
              </a:rPr>
              <a:t>Investigación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92224" y="2743200"/>
            <a:ext cx="2039112" cy="109728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92224" y="2743200"/>
            <a:ext cx="370747" cy="109728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92224" y="2743200"/>
            <a:ext cx="139030" cy="109728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17520"/>
            <a:ext cx="10515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90" b="0">
                <a:solidFill>
                  <a:srgbClr val="5F6B7A"/>
                </a:solidFill>
                <a:latin typeface="Aptos"/>
              </a:rPr>
              <a:t>UX/UI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92224" y="3026664"/>
            <a:ext cx="2039112" cy="109728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92224" y="3026664"/>
            <a:ext cx="556121" cy="109728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92224" y="3026664"/>
            <a:ext cx="185373" cy="109728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300984"/>
            <a:ext cx="10515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90" b="0">
                <a:solidFill>
                  <a:srgbClr val="5F6B7A"/>
                </a:solidFill>
                <a:latin typeface="Aptos"/>
              </a:rPr>
              <a:t>Flutter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92224" y="3310128"/>
            <a:ext cx="2039112" cy="109728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92224" y="3310128"/>
            <a:ext cx="1853738" cy="109728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584448"/>
            <a:ext cx="10515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90" b="0">
                <a:solidFill>
                  <a:srgbClr val="5F6B7A"/>
                </a:solidFill>
                <a:latin typeface="Aptos"/>
              </a:rPr>
              <a:t>Backend 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92224" y="3593591"/>
            <a:ext cx="2039112" cy="109728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92224" y="3593591"/>
            <a:ext cx="2039112" cy="109728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867912"/>
            <a:ext cx="10515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90" b="0">
                <a:solidFill>
                  <a:srgbClr val="5F6B7A"/>
                </a:solidFill>
                <a:latin typeface="Aptos"/>
              </a:rPr>
              <a:t>IA/RAG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92224" y="3877056"/>
            <a:ext cx="2039112" cy="109728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92224" y="3877056"/>
            <a:ext cx="1112242" cy="109728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92224" y="3877056"/>
            <a:ext cx="185373" cy="109728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151376"/>
            <a:ext cx="10515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90" b="0">
                <a:solidFill>
                  <a:srgbClr val="5F6B7A"/>
                </a:solidFill>
                <a:latin typeface="Aptos"/>
              </a:rPr>
              <a:t>Catálogo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92224" y="4160520"/>
            <a:ext cx="2039112" cy="109728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92224" y="4160520"/>
            <a:ext cx="741495" cy="109728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792224" y="4160520"/>
            <a:ext cx="463434" cy="109728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434840"/>
            <a:ext cx="10515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90" b="0">
                <a:solidFill>
                  <a:srgbClr val="5F6B7A"/>
                </a:solidFill>
                <a:latin typeface="Aptos"/>
              </a:rPr>
              <a:t>QA/seguridad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92224" y="4443983"/>
            <a:ext cx="2039112" cy="109728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792224" y="4443983"/>
            <a:ext cx="648808" cy="109728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2224" y="4443983"/>
            <a:ext cx="185373" cy="109728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4718304"/>
            <a:ext cx="10515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90" b="0">
                <a:solidFill>
                  <a:srgbClr val="5F6B7A"/>
                </a:solidFill>
                <a:latin typeface="Aptos"/>
              </a:rPr>
              <a:t>Infra 6 meses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92224" y="4727448"/>
            <a:ext cx="2039112" cy="109728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792224" y="4727448"/>
            <a:ext cx="417091" cy="109728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792224" y="4727448"/>
            <a:ext cx="417091" cy="109728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001768"/>
            <a:ext cx="10515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90" b="0">
                <a:solidFill>
                  <a:srgbClr val="5F6B7A"/>
                </a:solidFill>
                <a:latin typeface="Aptos"/>
              </a:rPr>
              <a:t>Piloto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92224" y="5010912"/>
            <a:ext cx="2039112" cy="109728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92224" y="5010912"/>
            <a:ext cx="463434" cy="109728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792224" y="5010912"/>
            <a:ext cx="231717" cy="109728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5285232"/>
            <a:ext cx="10515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90" b="0">
                <a:solidFill>
                  <a:srgbClr val="5F6B7A"/>
                </a:solidFill>
                <a:latin typeface="Aptos"/>
              </a:rPr>
              <a:t>Contingencia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2224" y="5294376"/>
            <a:ext cx="2039112" cy="109728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92224" y="5294376"/>
            <a:ext cx="820279" cy="109728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92224" y="5294376"/>
            <a:ext cx="463434" cy="109728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792224" y="5650992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Aptos"/>
              </a:rPr>
              <a:t>■ valor económico   ■ desembolso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15968" y="2395728"/>
            <a:ext cx="2560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OPERACIÓN MENSUAL · 6.000 Bs.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15968" y="2798064"/>
            <a:ext cx="1390650" cy="47548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06617" y="2798064"/>
            <a:ext cx="667512" cy="475488"/>
          </a:xfrm>
          <a:prstGeom prst="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74130" y="2798064"/>
            <a:ext cx="556260" cy="475488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930390" y="2798064"/>
            <a:ext cx="222504" cy="475488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52894" y="2798064"/>
            <a:ext cx="222504" cy="475488"/>
          </a:xfrm>
          <a:prstGeom prst="rect">
            <a:avLst/>
          </a:prstGeom>
          <a:solidFill>
            <a:srgbClr val="C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75398" y="2798064"/>
            <a:ext cx="139065" cy="47548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14463" y="2798064"/>
            <a:ext cx="139065" cy="475488"/>
          </a:xfrm>
          <a:prstGeom prst="rect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15968" y="3520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26280" y="3502152"/>
            <a:ext cx="14813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0" b="0">
                <a:solidFill>
                  <a:srgbClr val="17212F"/>
                </a:solidFill>
                <a:latin typeface="Aptos"/>
              </a:rPr>
              <a:t>Curación + soporte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240" y="3502152"/>
            <a:ext cx="10789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60" b="1">
                <a:solidFill>
                  <a:srgbClr val="102A43"/>
                </a:solidFill>
                <a:latin typeface="Aptos"/>
              </a:rPr>
              <a:t>2.500 Bs.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15968" y="3831335"/>
            <a:ext cx="118872" cy="118872"/>
          </a:xfrm>
          <a:prstGeom prst="rect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26280" y="3813048"/>
            <a:ext cx="14813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0" b="0">
                <a:solidFill>
                  <a:srgbClr val="17212F"/>
                </a:solidFill>
                <a:latin typeface="Aptos"/>
              </a:rPr>
              <a:t>IA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3813048"/>
            <a:ext cx="10789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60" b="1">
                <a:solidFill>
                  <a:srgbClr val="102A43"/>
                </a:solidFill>
                <a:latin typeface="Aptos"/>
              </a:rPr>
              <a:t>1.200 Bs.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15968" y="4142231"/>
            <a:ext cx="118872" cy="118872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26280" y="4123944"/>
            <a:ext cx="14813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0" b="0">
                <a:solidFill>
                  <a:srgbClr val="17212F"/>
                </a:solidFill>
                <a:latin typeface="Aptos"/>
              </a:rPr>
              <a:t>Marketing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2240" y="4123944"/>
            <a:ext cx="10789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60" b="1">
                <a:solidFill>
                  <a:srgbClr val="102A43"/>
                </a:solidFill>
                <a:latin typeface="Aptos"/>
              </a:rPr>
              <a:t>1.000 Bs.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15968" y="4453127"/>
            <a:ext cx="118872" cy="118872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26280" y="4434840"/>
            <a:ext cx="14813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0" b="0">
                <a:solidFill>
                  <a:srgbClr val="17212F"/>
                </a:solidFill>
                <a:latin typeface="Aptos"/>
              </a:rPr>
              <a:t>Render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2240" y="4434840"/>
            <a:ext cx="10789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60" b="1">
                <a:solidFill>
                  <a:srgbClr val="102A43"/>
                </a:solidFill>
                <a:latin typeface="Aptos"/>
              </a:rPr>
              <a:t>400 Bs.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315968" y="4764024"/>
            <a:ext cx="118872" cy="118872"/>
          </a:xfrm>
          <a:prstGeom prst="rect">
            <a:avLst/>
          </a:prstGeom>
          <a:solidFill>
            <a:srgbClr val="C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26280" y="4745736"/>
            <a:ext cx="14813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0" b="0">
                <a:solidFill>
                  <a:srgbClr val="17212F"/>
                </a:solidFill>
                <a:latin typeface="Aptos"/>
              </a:rPr>
              <a:t>Contingencia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2240" y="4745736"/>
            <a:ext cx="10789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60" b="1">
                <a:solidFill>
                  <a:srgbClr val="102A43"/>
                </a:solidFill>
                <a:latin typeface="Aptos"/>
              </a:rPr>
              <a:t>400 Bs.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15968" y="5074920"/>
            <a:ext cx="118872" cy="11887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26280" y="5056632"/>
            <a:ext cx="14813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0" b="0">
                <a:solidFill>
                  <a:srgbClr val="17212F"/>
                </a:solidFill>
                <a:latin typeface="Aptos"/>
              </a:rPr>
              <a:t>Neon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92240" y="5056632"/>
            <a:ext cx="10789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60" b="1">
                <a:solidFill>
                  <a:srgbClr val="102A43"/>
                </a:solidFill>
                <a:latin typeface="Aptos"/>
              </a:rPr>
              <a:t>250 Bs.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15968" y="5385816"/>
            <a:ext cx="118872" cy="118872"/>
          </a:xfrm>
          <a:prstGeom prst="rect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26280" y="5367528"/>
            <a:ext cx="14813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0" b="0">
                <a:solidFill>
                  <a:srgbClr val="17212F"/>
                </a:solidFill>
                <a:latin typeface="Aptos"/>
              </a:rPr>
              <a:t>Otros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92240" y="5367528"/>
            <a:ext cx="10789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60" b="1">
                <a:solidFill>
                  <a:srgbClr val="102A43"/>
                </a:solidFill>
                <a:latin typeface="Aptos"/>
              </a:rPr>
              <a:t>250 Bs.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65008" y="2395728"/>
            <a:ext cx="2148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F8B8D"/>
                </a:solidFill>
                <a:latin typeface="Aptos"/>
              </a:rPr>
              <a:t>EQUILIBRIO OPERATIVO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065008" y="2743200"/>
            <a:ext cx="3474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65008" y="2743200"/>
            <a:ext cx="73152" cy="65836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75320" y="2852928"/>
            <a:ext cx="10789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2E8B57"/>
                </a:solidFill>
                <a:latin typeface="Aptos"/>
              </a:rPr>
              <a:t>INSTITUCIONAL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08592" y="2834640"/>
            <a:ext cx="13533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7212F"/>
                </a:solidFill>
                <a:latin typeface="Aptos"/>
              </a:rPr>
              <a:t>4 licencias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88752" y="3099816"/>
            <a:ext cx="7132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19" b="1">
                <a:solidFill>
                  <a:srgbClr val="102A43"/>
                </a:solidFill>
                <a:latin typeface="Aptos"/>
              </a:rPr>
              <a:t>7.200 Bs.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065008" y="3602736"/>
            <a:ext cx="3474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65008" y="3602736"/>
            <a:ext cx="73152" cy="65836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275320" y="3712463"/>
            <a:ext cx="10789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0F8B8D"/>
                </a:solidFill>
                <a:latin typeface="Aptos"/>
              </a:rPr>
              <a:t>MIXTO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08592" y="3694176"/>
            <a:ext cx="13533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7212F"/>
                </a:solidFill>
                <a:latin typeface="Aptos"/>
              </a:rPr>
              <a:t>2 licencias + 134 premium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588752" y="3959352"/>
            <a:ext cx="7132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19" b="1">
                <a:solidFill>
                  <a:srgbClr val="102A43"/>
                </a:solidFill>
                <a:latin typeface="Aptos"/>
              </a:rPr>
              <a:t>6.012 Bs.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065008" y="4462272"/>
            <a:ext cx="3474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065008" y="4462272"/>
            <a:ext cx="73152" cy="658368"/>
          </a:xfrm>
          <a:prstGeom prst="rect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75320" y="4572000"/>
            <a:ext cx="10789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1">
                <a:solidFill>
                  <a:srgbClr val="D9A514"/>
                </a:solidFill>
                <a:latin typeface="Aptos"/>
              </a:rPr>
              <a:t>CIUDADANO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08592" y="4553712"/>
            <a:ext cx="135331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19" b="1">
                <a:solidFill>
                  <a:srgbClr val="17212F"/>
                </a:solidFill>
                <a:latin typeface="Aptos"/>
              </a:rPr>
              <a:t>334 premium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588752" y="4818888"/>
            <a:ext cx="7132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19" b="1">
                <a:solidFill>
                  <a:srgbClr val="102A43"/>
                </a:solidFill>
                <a:latin typeface="Aptos"/>
              </a:rPr>
              <a:t>6.012 Bs.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65008" y="5477256"/>
            <a:ext cx="3474720" cy="512064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47888" y="5568696"/>
            <a:ext cx="310896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90" b="1">
                <a:solidFill>
                  <a:srgbClr val="102A43"/>
                </a:solidFill>
                <a:latin typeface="Aptos"/>
              </a:rPr>
              <a:t>Año 1 base: 3 instituciones + 250 premium hacia el último trimestre ≈ equilibrio operativo.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58368" y="6144768"/>
            <a:ext cx="10881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5F6B7A"/>
                </a:solidFill>
                <a:latin typeface="Aptos"/>
              </a:rPr>
              <a:t>Supuestos académicos; no constituyen cotización contractual. No incluyen recuperar la inversión inicial.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2920" y="651967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Aptos"/>
              </a:rPr>
              <a:t>Fuente exclusiva: Proyecto_Final_Mi_Tramite_Bolivia_INF264.docx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11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LA CONFIANZA ES UN REQUISITO OPERATIVO, NO UN MENSAJE DE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1">
                <a:solidFill>
                  <a:srgbClr val="5F6B7A"/>
                </a:solidFill>
                <a:latin typeface="Aptos"/>
              </a:rPr>
              <a:t>PROBABILIDAD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444752"/>
            <a:ext cx="47548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C84C4C"/>
                </a:solidFill>
                <a:latin typeface="Aptos"/>
              </a:rPr>
              <a:t>ALTA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078224"/>
            <a:ext cx="47548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D97745"/>
                </a:solidFill>
                <a:latin typeface="Aptos"/>
              </a:rPr>
              <a:t>MEDIA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2" y="5760720"/>
            <a:ext cx="11155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F6B7A"/>
                </a:solidFill>
                <a:latin typeface="Aptos"/>
              </a:rPr>
              <a:t>IMPACTO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486400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5F6B7A"/>
                </a:solidFill>
                <a:latin typeface="Aptos"/>
              </a:rPr>
              <a:t>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5486400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C84C4C"/>
                </a:solidFill>
                <a:latin typeface="Aptos"/>
              </a:rPr>
              <a:t>ALTO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44752" y="1234440"/>
            <a:ext cx="4233672" cy="2057400"/>
          </a:xfrm>
          <a:prstGeom prst="rect">
            <a:avLst/>
          </a:prstGeom>
          <a:solidFill>
            <a:srgbClr val="FFF5D8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87568" y="1234440"/>
            <a:ext cx="4233672" cy="2057400"/>
          </a:xfrm>
          <a:prstGeom prst="rect">
            <a:avLst/>
          </a:prstGeom>
          <a:solidFill>
            <a:srgbClr val="FCEBEC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44752" y="3300984"/>
            <a:ext cx="4233672" cy="2057400"/>
          </a:xfrm>
          <a:prstGeom prst="rect">
            <a:avLst/>
          </a:prstGeom>
          <a:solidFill>
            <a:srgbClr val="F7F9FB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87568" y="3300984"/>
            <a:ext cx="4233672" cy="2057400"/>
          </a:xfrm>
          <a:prstGeom prst="rect">
            <a:avLst/>
          </a:prstGeom>
          <a:solidFill>
            <a:srgbClr val="FFF6F0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1591056"/>
            <a:ext cx="1627632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A5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1737360"/>
            <a:ext cx="27432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>
                <a:solidFill>
                  <a:srgbClr val="D9A514"/>
                </a:solidFill>
                <a:latin typeface="Aptos"/>
              </a:rPr>
              <a:t>R8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1992" y="1673352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30" b="1">
                <a:solidFill>
                  <a:srgbClr val="102A43"/>
                </a:solidFill>
                <a:latin typeface="Aptos"/>
              </a:rPr>
              <a:t>Alcance excesivo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536192"/>
            <a:ext cx="1627632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1682495"/>
            <a:ext cx="27432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>
                <a:solidFill>
                  <a:srgbClr val="C84C4C"/>
                </a:solidFill>
                <a:latin typeface="Aptos"/>
              </a:rPr>
              <a:t>R1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1618488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30" b="1">
                <a:solidFill>
                  <a:srgbClr val="102A43"/>
                </a:solidFill>
                <a:latin typeface="Aptos"/>
              </a:rPr>
              <a:t>Información desactualizada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3703320"/>
            <a:ext cx="1627632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3849624"/>
            <a:ext cx="27432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>
                <a:solidFill>
                  <a:srgbClr val="D97745"/>
                </a:solidFill>
                <a:latin typeface="Aptos"/>
              </a:rPr>
              <a:t>R3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1992" y="3785615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30" b="1">
                <a:solidFill>
                  <a:srgbClr val="102A43"/>
                </a:solidFill>
                <a:latin typeface="Aptos"/>
              </a:rPr>
              <a:t>Caída de proveedor 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84448" y="3703320"/>
            <a:ext cx="1627632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5887" y="3849624"/>
            <a:ext cx="27432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>
                <a:solidFill>
                  <a:srgbClr val="D97745"/>
                </a:solidFill>
                <a:latin typeface="Aptos"/>
              </a:rPr>
              <a:t>R4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3785615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30" b="1">
                <a:solidFill>
                  <a:srgbClr val="102A43"/>
                </a:solidFill>
                <a:latin typeface="Aptos"/>
              </a:rPr>
              <a:t>Costos variables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4443984"/>
            <a:ext cx="1627632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40" y="4590288"/>
            <a:ext cx="27432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>
                <a:solidFill>
                  <a:srgbClr val="D97745"/>
                </a:solidFill>
                <a:latin typeface="Aptos"/>
              </a:rPr>
              <a:t>R10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21992" y="4526280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30" b="1">
                <a:solidFill>
                  <a:srgbClr val="102A43"/>
                </a:solidFill>
                <a:latin typeface="Aptos"/>
              </a:rPr>
              <a:t>Brecha digital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621024"/>
            <a:ext cx="1627632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79" y="3767328"/>
            <a:ext cx="27432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>
                <a:solidFill>
                  <a:srgbClr val="C84C4C"/>
                </a:solidFill>
                <a:latin typeface="Aptos"/>
              </a:rPr>
              <a:t>R2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1" y="3703320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30" b="1">
                <a:solidFill>
                  <a:srgbClr val="102A43"/>
                </a:solidFill>
                <a:latin typeface="Aptos"/>
              </a:rPr>
              <a:t>Alucinación del LLM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73568" y="3621024"/>
            <a:ext cx="1627632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5008" y="3767328"/>
            <a:ext cx="27432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>
                <a:solidFill>
                  <a:srgbClr val="C84C4C"/>
                </a:solidFill>
                <a:latin typeface="Aptos"/>
              </a:rPr>
              <a:t>R5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703320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30" b="1">
                <a:solidFill>
                  <a:srgbClr val="102A43"/>
                </a:solidFill>
                <a:latin typeface="Aptos"/>
              </a:rPr>
              <a:t>Acceso no autorizado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4343400"/>
            <a:ext cx="1627632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489704"/>
            <a:ext cx="27432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>
                <a:solidFill>
                  <a:srgbClr val="C84C4C"/>
                </a:solidFill>
                <a:latin typeface="Aptos"/>
              </a:rPr>
              <a:t>R6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1" y="4425696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30" b="1">
                <a:solidFill>
                  <a:srgbClr val="102A43"/>
                </a:solidFill>
                <a:latin typeface="Aptos"/>
              </a:rPr>
              <a:t>Confusión con entidad oficial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73568" y="4343400"/>
            <a:ext cx="1627632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5008" y="4489704"/>
            <a:ext cx="27432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>
                <a:solidFill>
                  <a:srgbClr val="C84C4C"/>
                </a:solidFill>
                <a:latin typeface="Aptos"/>
              </a:rPr>
              <a:t>R7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425696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30" b="1">
                <a:solidFill>
                  <a:srgbClr val="102A43"/>
                </a:solidFill>
                <a:latin typeface="Aptos"/>
              </a:rPr>
              <a:t>Baja adopción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4928616"/>
            <a:ext cx="1627632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79" y="5074920"/>
            <a:ext cx="27432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80" b="1">
                <a:solidFill>
                  <a:srgbClr val="C84C4C"/>
                </a:solidFill>
                <a:latin typeface="Aptos"/>
              </a:rPr>
              <a:t>R9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8231" y="5010912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30" b="1">
                <a:solidFill>
                  <a:srgbClr val="102A43"/>
                </a:solidFill>
                <a:latin typeface="Aptos"/>
              </a:rPr>
              <a:t>Falta de actualización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13848" y="1234440"/>
            <a:ext cx="1371600" cy="4123944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24160" y="1508760"/>
            <a:ext cx="96012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D9A514"/>
                </a:solidFill>
                <a:latin typeface="Aptos"/>
              </a:rPr>
              <a:t>CONTROLES</a:t>
            </a:r>
            <a:br/>
            <a:r>
              <a:t>CLAVE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78440" y="2240280"/>
            <a:ext cx="1042415" cy="2560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400"/>
              </a:spcAft>
              <a:defRPr sz="919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Versionado y SLA</a:t>
            </a:r>
          </a:p>
          <a:p>
            <a:pPr>
              <a:spcAft>
                <a:spcPts val="400"/>
              </a:spcAft>
              <a:defRPr sz="919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RAG + JSON</a:t>
            </a:r>
          </a:p>
          <a:p>
            <a:pPr>
              <a:spcAft>
                <a:spcPts val="400"/>
              </a:spcAft>
              <a:defRPr sz="919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Fuente obligatoria</a:t>
            </a:r>
          </a:p>
          <a:p>
            <a:pPr>
              <a:spcAft>
                <a:spcPts val="400"/>
              </a:spcAft>
              <a:defRPr sz="919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Abstención</a:t>
            </a:r>
          </a:p>
          <a:p>
            <a:pPr>
              <a:spcAft>
                <a:spcPts val="400"/>
              </a:spcAft>
              <a:defRPr sz="919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Revisión humana</a:t>
            </a:r>
          </a:p>
          <a:p>
            <a:pPr>
              <a:spcAft>
                <a:spcPts val="400"/>
              </a:spcAft>
              <a:defRPr sz="919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RBAC y auditoría</a:t>
            </a:r>
          </a:p>
          <a:p>
            <a:pPr>
              <a:spcAft>
                <a:spcPts val="400"/>
              </a:spcAft>
              <a:defRPr sz="919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Límites y caché</a:t>
            </a:r>
          </a:p>
          <a:p>
            <a:pPr>
              <a:spcAft>
                <a:spcPts val="400"/>
              </a:spcAft>
              <a:defRPr sz="919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 Aviso de independencia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04288" y="5971032"/>
            <a:ext cx="7251192" cy="320040"/>
          </a:xfrm>
          <a:prstGeom prst="roundRect">
            <a:avLst/>
          </a:prstGeom>
          <a:solidFill>
            <a:srgbClr val="E8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50592" y="6044184"/>
            <a:ext cx="695858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19" b="1">
                <a:solidFill>
                  <a:srgbClr val="0B6B6C"/>
                </a:solidFill>
                <a:latin typeface="Aptos"/>
              </a:rPr>
              <a:t>Prioridad: exactitud y actualización; un error puede provocar pérdida de tiempo o dinero.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51967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Aptos"/>
              </a:rPr>
              <a:t>Fuente exclusiva: Proyecto_Final_Mi_Tramite_Bolivia_INF264.docx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F8B8D"/>
                </a:solidFill>
                <a:latin typeface="Aptos"/>
              </a:rPr>
              <a:t>12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0F8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Aptos"/>
              </a:rPr>
              <a:t>Cronograma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0F8B8D"/>
                </a:solidFill>
                <a:latin typeface="Aptos"/>
              </a:rPr>
              <a:t>20 SEMANAS · SPRINTS DE DOS SEMANAS · AVANCE GUIADO POR RIESGO</a:t>
            </a:r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60704"/>
            <a:ext cx="11045952" cy="46451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5843016"/>
            <a:ext cx="10817352" cy="329184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925312"/>
            <a:ext cx="10497312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Hitos: S3 validación · S5 prototipo · S11 API alfa · S14 asistente · S17 beta · S19 piloto · S20 defensa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F6B7A"/>
                </a:solidFill>
                <a:latin typeface="Aptos"/>
              </a:rPr>
              <a:t>Fuente exclusiva: Proyecto_Final_Mi_Tramite_Bolivia_INF264.docx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5F6B7A"/>
                </a:solidFill>
                <a:latin typeface="Aptos"/>
              </a:rPr>
              <a:t>MI TRÁMITE BOLIVIA  /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3891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BFD8E8"/>
                </a:solidFill>
                <a:latin typeface="Aptos"/>
              </a:rPr>
              <a:t>13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8408" y="475488"/>
            <a:ext cx="438912" cy="0"/>
          </a:xfrm>
          <a:prstGeom prst="line">
            <a:avLst/>
          </a:prstGeom>
          <a:ln w="25400">
            <a:solidFill>
              <a:srgbClr val="BF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72768" y="219456"/>
            <a:ext cx="9738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Conclusiones y recomendaciones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713232"/>
            <a:ext cx="94183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BFD8E8"/>
                </a:solidFill>
                <a:latin typeface="Aptos"/>
              </a:rPr>
              <a:t>LA VENTAJA NO ES “TENER IA”; ES CONVERTIR EVIDENCIA EN PREPARACIÓN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133856"/>
            <a:ext cx="10972800" cy="71323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344168"/>
            <a:ext cx="1035100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MI TRÁMITE BOLIVIA ES VIABLE COMO MVP SI LA CONFIANZA GOBIERNA EL ALCANCE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03704"/>
            <a:ext cx="3410712" cy="1508760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459736"/>
            <a:ext cx="402336" cy="402336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4597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395728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1">
                <a:solidFill>
                  <a:srgbClr val="0F8B8D"/>
                </a:solidFill>
                <a:latin typeface="Aptos"/>
              </a:rPr>
              <a:t>TÉCNICAMENTE ALCANZABLE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862072"/>
            <a:ext cx="298094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1">
                <a:solidFill>
                  <a:srgbClr val="FFFFFF"/>
                </a:solidFill>
                <a:latin typeface="Aptos"/>
              </a:rPr>
              <a:t>Flutter + Go + Neon + Render permiten construir un MVP en ≈5 meses con una arquitectura modular.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2203704"/>
            <a:ext cx="3410712" cy="1508760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26864" y="2459736"/>
            <a:ext cx="402336" cy="402336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4597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2395728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1">
                <a:solidFill>
                  <a:srgbClr val="D9A514"/>
                </a:solidFill>
                <a:latin typeface="Aptos"/>
              </a:rPr>
              <a:t>EL ACTIVO ES EL CATÁLOGO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2862072"/>
            <a:ext cx="298094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1">
                <a:solidFill>
                  <a:srgbClr val="FFFFFF"/>
                </a:solidFill>
                <a:latin typeface="Aptos"/>
              </a:rPr>
              <a:t>Fuente, fecha, versión, responsable y abstención valen más que una respuesta fluida sin respaldo.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4" y="2203704"/>
            <a:ext cx="3410712" cy="1508760"/>
          </a:xfrm>
          <a:prstGeom prst="round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94192" y="2459736"/>
            <a:ext cx="402336" cy="402336"/>
          </a:xfrm>
          <a:prstGeom prst="ellipse">
            <a:avLst/>
          </a:prstGeom>
          <a:solidFill>
            <a:srgbClr val="765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2459736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1976" y="2395728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1">
                <a:solidFill>
                  <a:srgbClr val="7652A8"/>
                </a:solidFill>
                <a:latin typeface="Aptos"/>
              </a:rPr>
              <a:t>VIABILIDAD HÍBRIDA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862072"/>
            <a:ext cx="298094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1">
                <a:solidFill>
                  <a:srgbClr val="FFFFFF"/>
                </a:solidFill>
                <a:latin typeface="Aptos"/>
              </a:rPr>
              <a:t>El MVP académico es viable con aporte fundador; la empresa debe validar ingresos institucionales.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069080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D9A514"/>
                </a:solidFill>
                <a:latin typeface="Aptos"/>
              </a:rPr>
              <a:t>RECOMENDACIONES PRIORITARIAS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471416"/>
            <a:ext cx="5230368" cy="612648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" y="4617720"/>
            <a:ext cx="310896" cy="310896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6177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4572000"/>
            <a:ext cx="15361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Limitar el piloto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553712"/>
            <a:ext cx="28803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80" b="1">
                <a:solidFill>
                  <a:srgbClr val="C7DBE8"/>
                </a:solidFill>
                <a:latin typeface="Aptos"/>
              </a:rPr>
              <a:t>20–30 trámites de alta demanda y fuentes estables.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471416"/>
            <a:ext cx="5230368" cy="612648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36792" y="4617720"/>
            <a:ext cx="310896" cy="310896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6177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Apto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5704" y="4572000"/>
            <a:ext cx="15361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Gobernar el contenido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4553712"/>
            <a:ext cx="28803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80" b="1">
                <a:solidFill>
                  <a:srgbClr val="C7DBE8"/>
                </a:solidFill>
                <a:latin typeface="Aptos"/>
              </a:rPr>
              <a:t>Responsable, calendario, métricas y cola de revisión.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248655"/>
            <a:ext cx="5230368" cy="612648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59" y="5394959"/>
            <a:ext cx="310896" cy="310896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539495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1872" y="5349240"/>
            <a:ext cx="15361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Validar negocio B2B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330951"/>
            <a:ext cx="28803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80" b="1">
                <a:solidFill>
                  <a:srgbClr val="C7DBE8"/>
                </a:solidFill>
                <a:latin typeface="Aptos"/>
              </a:rPr>
              <a:t>Licencias e implementaciones antes de escalar cobertura.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5248655"/>
            <a:ext cx="5230368" cy="612648"/>
          </a:xfrm>
          <a:prstGeom prst="roundRect">
            <a:avLst/>
          </a:prstGeom>
          <a:solidFill>
            <a:srgbClr val="213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36792" y="5394959"/>
            <a:ext cx="310896" cy="310896"/>
          </a:xfrm>
          <a:prstGeom prst="ellipse">
            <a:avLst/>
          </a:prstGeom>
          <a:solidFill>
            <a:srgbClr val="D9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36792" y="5394959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102A43"/>
                </a:solidFill>
                <a:latin typeface="Apto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75704" y="5349240"/>
            <a:ext cx="15361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Medir antes de migrar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7031" y="5330951"/>
            <a:ext cx="288036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80" b="1">
                <a:solidFill>
                  <a:srgbClr val="C7DBE8"/>
                </a:solidFill>
                <a:latin typeface="Aptos"/>
              </a:rPr>
              <a:t>Costo, calidad y privacidad antes de ejecutar Qwen local.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56231" y="6126480"/>
            <a:ext cx="8458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D9A514"/>
                </a:solidFill>
                <a:latin typeface="Aptos"/>
              </a:rPr>
              <a:t>Éxito = menos incertidumbre + más preparación correcta + evidencia verificable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9672"/>
            <a:ext cx="795527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AFC2D3"/>
                </a:solidFill>
                <a:latin typeface="Aptos"/>
              </a:rPr>
              <a:t>Fuente exclusiva: Proyecto_Final_Mi_Tramite_Bolivia_INF264.docx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6501384"/>
            <a:ext cx="1783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50" b="1">
                <a:solidFill>
                  <a:srgbClr val="AFC2D3"/>
                </a:solidFill>
                <a:latin typeface="Aptos"/>
              </a:rPr>
              <a:t>MI TRÁMITE BOLIVIA  /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 Trámite Bolivia — Presentación de alto impacto</dc:title>
  <dc:subject>Proyecto Final INF-264</dc:subject>
  <dc:creator>Equipo Mi Trámite Bolivia</dc:creator>
  <cp:keywords>trámites, Bolivia, IA, RAG, Flutter, Go, emprendimiento</cp:keywords>
  <dc:description>Contenido elaborado exclusivamente a partir del documento fuente adjunto.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