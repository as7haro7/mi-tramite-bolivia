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690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Mi Trámite Bolivia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Tu asistente inteligente para realizar trámites públicos.</a:t>
            </a:r>
          </a:p>
          <a:p>
            <a:r>
              <a:t>• Proyecto Final INF-264 — UMSA, Carrera de Informática.</a:t>
            </a:r>
          </a:p>
          <a:p>
            <a:r>
              <a:t>• Equipo: Canqui Phuña Helen Yvette Cecilia; Chana Saico Cecilia; Enriquez Aduviri Vanesa Alejandra; Mendoza Mamani Ricardo Einer; Erick Fernando Poma Condori.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Portada azul marino con logotipo del proyecto como foco y escudo UMSA en el panel lateral. Los nombres deben quedar completos, sin abreviaturas.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No requiere diagrama. Mantener marca y promesa a la izquierda; datos académicos y equipo a la derecha.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24876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Árbol del problema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Causas: información dispersa, lenguaje técnico y variación según institución, trámite y caso.</a:t>
            </a:r>
          </a:p>
          <a:p>
            <a:r>
              <a:t>• Problema central: baja capacidad de preparación correcta antes del primer contacto institucional.</a:t>
            </a:r>
          </a:p>
          <a:p>
            <a:r>
              <a:t>• Efectos: documentación incompleta, costos evitables e incertidumbre.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Diagrama causal puro, sin párrafos largos. Causas arriba en turquesa; problema central en azul marino; efectos abajo en dorado.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Tres tarjetas superiores conectan al problema central; este conecta con tres efectos. La pregunta de investigación ocupa una banda inferior.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38030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Objetivos y métricas de validación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Objetivo general: diseñar y desarrollar un MVP móvil inteligente para orientación sobre trámites públicos bolivianos.</a:t>
            </a:r>
          </a:p>
          <a:p>
            <a:r>
              <a:t>• Objetivos específicos resumidos: investigación, catálogo versionado, aplicación Flutter, API Go, IA intercambiable y validación.</a:t>
            </a:r>
          </a:p>
          <a:p>
            <a:r>
              <a:t>• Indicadores: preparación completa, resolución en primer intento, tiempo de orientación, exactitud, respuestas con fuente y satisfacción.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Objetivo general en una banda superior; cinco objetivos específicos como tarjetas; seis indicadores en una matriz 3×2.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No inventar metas porcentuales. Los indicadores se presentan como variables que medirán el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17669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Descripción del emprendimiento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La plataforma traduce información institucional a guías verificables y personalizadas.</a:t>
            </a:r>
          </a:p>
          <a:p>
            <a:r>
              <a:t>• Cada guía contiene pasos, requisitos, costos, modalidad, horarios, ubicación, fuentes, fecha y advertencias.</a:t>
            </a:r>
          </a:p>
          <a:p>
            <a:r>
              <a:t>• La aplicación orienta y deriva; no sustituye ni representa a la institución.</a:t>
            </a:r>
          </a:p>
          <a:p>
            <a:r>
              <a:t>• El MVP comienza con 20–30 trámites de alta demanda.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Flujo horizontal de cinco etapas seguido por tres bloques de capacidades.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Secuencia: Describir → Aclarar → Orientar → Preparar → Derivar. La derivación se diferencia en dorado.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81131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Requisitos del sistema — Funcionales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RF-01: Buscar trámites por texto, categoría o institución. Prioridad alta.</a:t>
            </a:r>
          </a:p>
          <a:p>
            <a:r>
              <a:t>• RF-02: Visualizar ficha con fuente y fecha de última verificación. Prioridad alta.</a:t>
            </a:r>
          </a:p>
          <a:p>
            <a:r>
              <a:t>• RF-03: Conversar con el asistente y obtener una guía personalizada. Prioridad alta.</a:t>
            </a:r>
          </a:p>
          <a:p>
            <a:r>
              <a:t>• RF-04: Generar y guardar checklist de documentos. Prioridad alta.</a:t>
            </a:r>
          </a:p>
          <a:p>
            <a:r>
              <a:t>• RF-05: Registrar reportes de información posiblemente desactualizada. Prioridad media.</a:t>
            </a:r>
          </a:p>
          <a:p>
            <a:r>
              <a:t>• RF-06: Administrar versiones y estados de publicación de trámites. Prioridad alta.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Tabla limpia con seis filas; alternar fondos y destacar evidencia, asistente y versionado.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Columnas: Código | Requisito funcional | Prioridad. Mantener los textos exactos de la Tabla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27110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Requisitos del sistema — No funcionales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RNF-01: respuesta de API inferior a 2 segundos en consultas no generativas.</a:t>
            </a:r>
          </a:p>
          <a:p>
            <a:r>
              <a:t>• RNF-02: disponibilidad objetivo de 99 % durante el piloto.</a:t>
            </a:r>
          </a:p>
          <a:p>
            <a:r>
              <a:t>• RNF-03: cifrado en tránsito, secretos, RBAC y auditoría.</a:t>
            </a:r>
          </a:p>
          <a:p>
            <a:r>
              <a:t>• RNF-04: interfaz accesible y utilizable con conexión limitada.</a:t>
            </a:r>
          </a:p>
          <a:p>
            <a:r>
              <a:t>• RNF-05: portabilidad entre proveedores de IA y entornos de despliegue.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Cinco tarjetas métricas con una tarjeta final que explica la decisión de portabilidad.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Dar máxima jerarquía visual a “&lt; 2 s” y “PORTABLE”, porque son requisitos explícitamente solicitados para la defensa.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7401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Justificación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Técnica: Flutter, Go, PostgreSQL, Render, Neon y APIs de IA son suficientes para un MVP.</a:t>
            </a:r>
          </a:p>
          <a:p>
            <a:r>
              <a:t>• Económica: una base compartida y servicios administrados reducen duplicación.</a:t>
            </a:r>
          </a:p>
          <a:p>
            <a:r>
              <a:t>• Social: disminuye asimetrías de información y errores evitables.</a:t>
            </a:r>
          </a:p>
          <a:p>
            <a:r>
              <a:t>• Académica: integra emprendimiento, UX, software, datos, IA, seguridad y economía.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Cuatro tarjetas grandes con iconos numéricos y una ecuación de innovación al cierre.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La tarjeta final debe remarcar que el modelo de lenguaje no es la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4360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Público objetivo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Camila: estudiante que necesita fuente vigente y checklist.</a:t>
            </a:r>
          </a:p>
          <a:p>
            <a:r>
              <a:t>• José: trabajador independiente que planifica costos, tiempos y secuencias.</a:t>
            </a:r>
          </a:p>
          <a:p>
            <a:r>
              <a:t>• María: cuidadora familiar con conectividad intermitente.</a:t>
            </a:r>
          </a:p>
          <a:p>
            <a:r>
              <a:t>• Segmentos: ciudadanos, emprendedores, estudiantes, familias e instituciones.</a:t>
            </a:r>
          </a:p>
          <a:p>
            <a:r>
              <a:t>• Early adopters: comunidad UMSA y emprendedores de La Paz.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Tres tarjetas de usuario con iconos de inicial grandes y cinco tarjetas de segmentos.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Resaltar instituciones en dorado para mostrar la coexistencia B2C/B2B.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4596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Modelo de negocio — Canvas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Modelo freemium con información básica gratuita.</a:t>
            </a:r>
          </a:p>
          <a:p>
            <a:r>
              <a:t>• Premium: recordatorios, perfiles familiares, historial y alertas.</a:t>
            </a:r>
          </a:p>
          <a:p>
            <a:r>
              <a:t>• Instituciones: panel, estadísticas, configuración y white-label.</a:t>
            </a:r>
          </a:p>
          <a:p>
            <a:r>
              <a:t>• No vender datos personales ni cobrar por información pública.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Cuadrícula visual de nueve bloques según el Business Model Canvas clásico.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Orden: Socios | Actividades/Recursos | Propuesta | Relación/Canales | Segmentos; abajo Costos e Ingresos.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256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Stack tecnológico del MVP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Frontend: Flutter/Dart, Riverpod, Dio y Drift.</a:t>
            </a:r>
          </a:p>
          <a:p>
            <a:r>
              <a:t>• Backend: Go/Gin, pgx, sqlc y Goose.</a:t>
            </a:r>
          </a:p>
          <a:p>
            <a:r>
              <a:t>• Datos: PostgreSQL en Neon, full-text y pgvector opcional.</a:t>
            </a:r>
          </a:p>
          <a:p>
            <a:r>
              <a:t>• IA: Gemini y Qwen mediante RAG y JSON Schema.</a:t>
            </a:r>
          </a:p>
          <a:p>
            <a:r>
              <a:t>• Operación: Render, Docker, GitHub Actions y OpenAPI.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Cinco columnas de stack y cinco principios arquitectónicos debajo.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Esta diapositiva enumera tecnologías; la arquitectura lógica se muestra por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59460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Arquitectura lógica propuesta del MVP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Clientes: aplicación Flutter y panel Flutter Web.</a:t>
            </a:r>
          </a:p>
          <a:p>
            <a:r>
              <a:t>• Comunicación REST/HTTPS con un backend Go.</a:t>
            </a:r>
          </a:p>
          <a:p>
            <a:r>
              <a:t>• Backend: endpoints, monolito modular y adaptadores.</a:t>
            </a:r>
          </a:p>
          <a:p>
            <a:r>
              <a:t>• Infraestructura: Neon, proveedores Gemini/Qwen y Render/CI/CD.</a:t>
            </a:r>
          </a:p>
          <a:p>
            <a:r>
              <a:t>• La aplicación nunca se conecta directamente a la base de datos ni a la IA.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Diagrama exclusivo de arquitectura, separado de la lista de tecnologías.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Izquierda: clientes y backend por capas. Derecha: tres servicios externos. Conectar únicamente desde los adaptadores.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7653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Modelo de datos y seguridad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Entidades: institution, procedure, procedure_version, requirement, requirement_rule, source, location, user_checklist, conversation, feedback y audit_log.</a:t>
            </a:r>
          </a:p>
          <a:p>
            <a:r>
              <a:t>• Las versiones publicadas son inmutables y conservan historial.</a:t>
            </a:r>
          </a:p>
          <a:p>
            <a:r>
              <a:t>• Seguridad: OWASP API Top 10, RBAC, JWT, 2FA administrativa, TLS, secretos, límites, auditoría y backups.</a:t>
            </a:r>
          </a:p>
          <a:p>
            <a:r>
              <a:t>• Privacidad: minimización, consultas sin cuenta, sin imágenes de documentos y eliminación de historial.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Agrupar las entidades en cuatro dominios y colocar un panel vertical de seguridad.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El panel de seguridad debe ser visualmente dominante y mostrar OWASP, RBAC y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599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El corazón de la IA: RAG controlado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Flujo: consulta → recuperación del catálogo → generación → control → guía.</a:t>
            </a:r>
          </a:p>
          <a:p>
            <a:r>
              <a:t>• Gemini y Qwen se integran detrás de una interfaz común.</a:t>
            </a:r>
          </a:p>
          <a:p>
            <a:r>
              <a:t>• JSON Schema obliga a producir campos estructurados.</a:t>
            </a:r>
          </a:p>
          <a:p>
            <a:r>
              <a:t>• Abstención: si las fuentes no permiten confirmar, la IA no inventa.</a:t>
            </a:r>
          </a:p>
          <a:p>
            <a:r>
              <a:t>• Cada requisito debe poder trazarse al contexto recuperado.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Flujo horizontal de cinco pasos sobre fondo azul marino; dos tarjetas grandes para JSON Schema y abstención.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La salida final debe decir explícitamente “guía o abstención”, no solo “respuesta”.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66992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Visión futura — Migración a un LLM local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Plan: ejecutar un modelo Qwen instructivo mediante vLLM en infraestructura controlada.</a:t>
            </a:r>
          </a:p>
          <a:p>
            <a:r>
              <a:t>• Objetivos: privacidad, control y reducción potencial de costos a escala.</a:t>
            </a:r>
          </a:p>
          <a:p>
            <a:r>
              <a:t>• Antes de migrar se medirán costo, calidad en español boliviano, errores, privacidad, latencia y demanda.</a:t>
            </a:r>
          </a:p>
          <a:p>
            <a:r>
              <a:t>• Se requieren GPU, monitoreo, colas, concurrencia, continuidad y respaldo externo.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Comparativa visual entre etapa API y visión local; debajo, cinco criterios y una banda de requisitos.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No presentar la migración como decisión inmediata: debe aparecer condicionada a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47140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Prototipo y flujo de experiencia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Flujo: Inicio → Consultar/Buscar → Revisar requisitos → Preparar checklist → Derivar al canal oficial.</a:t>
            </a:r>
          </a:p>
          <a:p>
            <a:r>
              <a:t>• Pantallas destacadas: Inicio, Asistente y Checklist.</a:t>
            </a:r>
          </a:p>
          <a:p>
            <a:r>
              <a:t>• La ficha y las respuestas muestran fuente y fecha.</a:t>
            </a:r>
          </a:p>
          <a:p>
            <a:r>
              <a:t>• La aplicación no afirma que completó el trámite.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Flujo de la Figura 3 arriba y tres mockups de teléfono debajo.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No se encontró un archivo Figma ni capturas reales. Las maquetas se reconstruyen desde la Tabla 8 y se etiquetan como tales.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05216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Análisis de mercado y competencia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Alternativas: gob.bo, Ciudadanía Digital/PTC, portales, buscadores/redes y tramitadores.</a:t>
            </a:r>
          </a:p>
          <a:p>
            <a:r>
              <a:t>• Mi Trámite se posiciona como complemento interoperable.</a:t>
            </a:r>
          </a:p>
          <a:p>
            <a:r>
              <a:t>• Diferenciales: personalización, trazabilidad, móvil, IA controlada y enfoque nacional.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Tabla de seis filas con Mi Trámite Bolivia resaltado.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Columnas: Alternativa | Fortaleza | Brecha/posición. Cerrar con una banda de diferenciadores.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44112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Estrategia de captación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Alianzas con centros de estudiantes UMSA, incubadoras, ferias y cámaras.</a:t>
            </a:r>
          </a:p>
          <a:p>
            <a:r>
              <a:t>• Contenido educativo en TikTok, Facebook e Instagram.</a:t>
            </a:r>
          </a:p>
          <a:p>
            <a:r>
              <a:t>• Códigos QR en materiales de aliados, con autorización.</a:t>
            </a:r>
          </a:p>
          <a:p>
            <a:r>
              <a:t>• Programa beta con funciones premium temporales.</a:t>
            </a:r>
          </a:p>
          <a:p>
            <a:r>
              <a:t>• Páginas públicas indexables por trámite.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Cinco tarjetas de canales y una secuencia de entrada al mercado.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Ruta: La Paz → 20–30 trámites → piloto UMSA → demo B2B → expansión por paquetes.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402513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Estudio económico — Inversión y operación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Valor económico total: 97.350 Bs.</a:t>
            </a:r>
          </a:p>
          <a:p>
            <a:r>
              <a:t>• Desembolso estimado con desarrollo fundador: 24.500 Bs.</a:t>
            </a:r>
          </a:p>
          <a:p>
            <a:r>
              <a:t>• Costo sostenible: 6.000 Bs./mes.</a:t>
            </a:r>
          </a:p>
          <a:p>
            <a:r>
              <a:t>• En fase académica, aportes de curación y soporte pueden reducir el efectivo a aproximadamente 2.500 Bs./mes.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Tres cifras principales; barras de inversión a la izquierda; costo mensual apilado al centro; lectura estratégica a la derecha.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La inversión debe diferenciar valor económico azul y desembolso dorado.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3692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Estudio económico — Ingresos y equilibrio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Premium: 20 Bs./mes.</a:t>
            </a:r>
          </a:p>
          <a:p>
            <a:r>
              <a:t>• Licencia institucional: 2.000 Bs./mes.</a:t>
            </a:r>
          </a:p>
          <a:p>
            <a:r>
              <a:t>• White-label: 8.000–20.000 Bs.</a:t>
            </a:r>
          </a:p>
          <a:p>
            <a:r>
              <a:t>• Equilibrio: 4 instituciones; o 2 instituciones + 134 premium; o 334 premium.</a:t>
            </a:r>
          </a:p>
          <a:p>
            <a:r>
              <a:t>• Escenario base: 3 instituciones y 250 premium hacia el último trimestre.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Cuatro tarjetas de ingresos y tres filas grandes de punto de equilibrio.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Usar exactamente las contribuciones de la Tabla 13: 1.800 Bs. por licencia y 18 Bs. por premium.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9948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Mapa de calor de riesgos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Alta/alta: información desactualizada.</a:t>
            </a:r>
          </a:p>
          <a:p>
            <a:r>
              <a:t>• Alta/media: alcance excesivo.</a:t>
            </a:r>
          </a:p>
          <a:p>
            <a:r>
              <a:t>• Media/alta: alucinación, acceso, confusión oficial, baja adopción y falta de actualización.</a:t>
            </a:r>
          </a:p>
          <a:p>
            <a:r>
              <a:t>• Media/media: caída de IA, costos variables y brecha digital.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Mapa de calor 3×3 verde, amarillo y rojo con los diez riesgos dentro de sus celdas.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Eje vertical: probabilidad baja/media/alta. Eje horizontal: impacto bajo/medio/alto. Panel lateral de mitigaciones.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55183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Cronograma de implementación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Duración total: 20 semanas.</a:t>
            </a:r>
          </a:p>
          <a:p>
            <a:r>
              <a:t>• Sprints de dos semanas con planificación, desarrollo, pruebas, demo y retrospectiva.</a:t>
            </a:r>
          </a:p>
          <a:p>
            <a:r>
              <a:t>• El catálogo avanza en paralelo al software.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Gantt del documento a pantalla completa con una banda de hitos.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Respetar exactamente las nueve fases y sus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356698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Entregables e hitos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H1 Validación: problema y público confirmados.</a:t>
            </a:r>
          </a:p>
          <a:p>
            <a:r>
              <a:t>• H2 Prototipo: flujo navegable probado.</a:t>
            </a:r>
          </a:p>
          <a:p>
            <a:r>
              <a:t>• H3 Alfa: búsqueda, ficha y checklist.</a:t>
            </a:r>
          </a:p>
          <a:p>
            <a:r>
              <a:t>• H4 Asistente: fuentes y evaluación.</a:t>
            </a:r>
          </a:p>
          <a:p>
            <a:r>
              <a:t>• H5 Beta: pruebas críticas y monitoreo.</a:t>
            </a:r>
          </a:p>
          <a:p>
            <a:r>
              <a:t>• H6 Piloto: métricas recopiladas.</a:t>
            </a:r>
          </a:p>
          <a:p>
            <a:r>
              <a:t>• H7 Lanzamiento/defensa: MVP, documentación y continuidad.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Siete tarjetas de hitos con semana, definición y entregable.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Dar mayor énfasis visual a Alfa, Beta, Piloto y Lanzamiento mediante colores distintos.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821060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Conclusiones y recomendaciones</a:t>
            </a:r>
          </a:p>
          <a:p>
            <a:endParaRPr/>
          </a:p>
          <a:p>
            <a:r>
              <a:t>TEXTOS CLAVE O VIÑETAS</a:t>
            </a:r>
          </a:p>
          <a:p>
            <a:r>
              <a:t>• El proyecto es técnicamente alcanzable y socialmente relevante.</a:t>
            </a:r>
          </a:p>
          <a:p>
            <a:r>
              <a:t>• El catálogo confiable es el principal activo.</a:t>
            </a:r>
          </a:p>
          <a:p>
            <a:r>
              <a:t>• La viabilidad empresarial requiere ingresos institucionales.</a:t>
            </a:r>
          </a:p>
          <a:p>
            <a:r>
              <a:t>• Recomendaciones: limitar el piloto, gobernar contenido, validar B2B y medir antes de migrar a Qwen local.</a:t>
            </a:r>
          </a:p>
          <a:p>
            <a:endParaRPr/>
          </a:p>
          <a:p>
            <a:r>
              <a:t>INDICACIONES VISUALES PRECISAS</a:t>
            </a:r>
          </a:p>
          <a:p>
            <a:r>
              <a:t>Cierre con una afirmación, tres conclusiones y cuatro recomendaciones accionables.</a:t>
            </a:r>
          </a:p>
          <a:p>
            <a:endParaRPr/>
          </a:p>
          <a:p>
            <a:r>
              <a:t>INSTRUCCIONES ESPECÍFICAS PARA DIAGRAMAS/TABLAS</a:t>
            </a:r>
          </a:p>
          <a:p>
            <a:r>
              <a:t>Terminar con la ecuación: menos incertidumbre + preparación correcta + evidencia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51861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30352"/>
            <a:ext cx="4709160" cy="2570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3328416"/>
            <a:ext cx="7452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Tu asistente inteligente para realizar trámites públicos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69663"/>
            <a:ext cx="72694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C7DBE8"/>
                </a:solidFill>
                <a:latin typeface="Aptos"/>
              </a:rPr>
              <a:t>Información oficial versionada · IA con trazabilidad · Preparación ciudadana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46320"/>
            <a:ext cx="7178040" cy="3657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5074920"/>
            <a:ext cx="7406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BFD8E8"/>
                </a:solidFill>
                <a:latin typeface="Aptos"/>
              </a:rPr>
              <a:t>PROYECTO FINAL · INF-264 — Emprendimiento e Innovación Tecnológica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431536"/>
            <a:ext cx="7452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BFD8E8"/>
                </a:solidFill>
                <a:latin typeface="Aptos"/>
              </a:rPr>
              <a:t>Universidad Mayor de San Andrés · Carrera de Informática · La Paz, Bolivia —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797296"/>
            <a:ext cx="5577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BFD8E8"/>
                </a:solidFill>
                <a:latin typeface="Aptos"/>
              </a:rPr>
              <a:t>Docente: M. Sc. Silvana Llanque Pérez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952" y="256032"/>
            <a:ext cx="832104" cy="16642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89136" y="2267712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D9A514"/>
                </a:solidFill>
                <a:latin typeface="Aptos"/>
              </a:rPr>
              <a:t>INTEGRANTES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9136" y="2624328"/>
            <a:ext cx="2679192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10" b="1">
                <a:solidFill>
                  <a:srgbClr val="FFFFFF"/>
                </a:solidFill>
                <a:latin typeface="Aptos"/>
              </a:rPr>
              <a:t>Canqui Phuña Helen Yvette Cecilia</a:t>
            </a:r>
            <a:r>
              <a:t/>
            </a:r>
            <a:br/>
            <a:r>
              <a:t>Chana Saico Cecilia</a:t>
            </a:r>
            <a:br/>
            <a:r>
              <a:t>Enriquez Aduviri Vanesa Alejandra</a:t>
            </a:r>
            <a:br/>
            <a:r>
              <a:t>Mendoza Mamani Ricardo Einer</a:t>
            </a:r>
            <a:br/>
            <a:r>
              <a:t>Erick Fernando Poma Condori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9136" y="5760720"/>
            <a:ext cx="2679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C7DBE8"/>
                </a:solidFill>
                <a:latin typeface="Aptos"/>
              </a:rPr>
              <a:t>MI TRÁMITE BOLIVIA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272784"/>
            <a:ext cx="6583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BFD8E8"/>
                </a:solidFill>
                <a:latin typeface="Aptos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Árbol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IDENTIFICACIÓN DEL PROBLEMA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PROBLEMA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3456432" cy="914400"/>
          </a:xfrm>
          <a:prstGeom prst="roundRect">
            <a:avLst/>
          </a:prstGeom>
          <a:solidFill>
            <a:srgbClr val="E8F5F4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1426464"/>
            <a:ext cx="402336" cy="40233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4264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307592"/>
            <a:ext cx="249631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Información dispersa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1645920"/>
            <a:ext cx="24963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A"/>
                </a:solidFill>
                <a:latin typeface="Aptos"/>
              </a:rPr>
              <a:t>Portales, comunicados y oficinas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22576" y="2084831"/>
            <a:ext cx="3767328" cy="475489"/>
          </a:xfrm>
          <a:prstGeom prst="line">
            <a:avLst/>
          </a:prstGeom>
          <a:ln w="2159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16552" y="1170432"/>
            <a:ext cx="3456432" cy="914400"/>
          </a:xfrm>
          <a:prstGeom prst="roundRect">
            <a:avLst/>
          </a:prstGeom>
          <a:solidFill>
            <a:srgbClr val="E8F5F4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1144" y="1426464"/>
            <a:ext cx="402336" cy="40233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4264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307592"/>
            <a:ext cx="249631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Lenguaje técnico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1645920"/>
            <a:ext cx="24963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A"/>
                </a:solidFill>
                <a:latin typeface="Aptos"/>
              </a:rPr>
              <a:t>Requisitos generales y condicionales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089904" y="2084831"/>
            <a:ext cx="54864" cy="475489"/>
          </a:xfrm>
          <a:prstGeom prst="line">
            <a:avLst/>
          </a:prstGeom>
          <a:ln w="2159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38744" y="1170432"/>
            <a:ext cx="3456432" cy="914400"/>
          </a:xfrm>
          <a:prstGeom prst="roundRect">
            <a:avLst/>
          </a:prstGeom>
          <a:solidFill>
            <a:srgbClr val="E8F5F4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03336" y="1426464"/>
            <a:ext cx="402336" cy="40233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03336" y="14264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1307592"/>
            <a:ext cx="249631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Ruta variable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1645920"/>
            <a:ext cx="24963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A"/>
                </a:solidFill>
                <a:latin typeface="Aptos"/>
              </a:rPr>
              <a:t>Institución, trámite y caso personal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089904" y="2084831"/>
            <a:ext cx="3877056" cy="475489"/>
          </a:xfrm>
          <a:prstGeom prst="line">
            <a:avLst/>
          </a:prstGeom>
          <a:ln w="2159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907792" y="2560320"/>
            <a:ext cx="6364224" cy="1060704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2770632"/>
            <a:ext cx="5742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BAJA CAPACIDAD DE PREPARACIÓN CORRECTA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9544" y="3301855"/>
            <a:ext cx="574243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 dirty="0">
                <a:solidFill>
                  <a:srgbClr val="C7DBE8"/>
                </a:solidFill>
                <a:latin typeface="Aptos"/>
              </a:rPr>
              <a:t>antes del primer </a:t>
            </a:r>
            <a:r>
              <a:rPr sz="1300" b="0" dirty="0" err="1">
                <a:solidFill>
                  <a:srgbClr val="C7DBE8"/>
                </a:solidFill>
                <a:latin typeface="Aptos"/>
              </a:rPr>
              <a:t>contacto</a:t>
            </a:r>
            <a:r>
              <a:rPr sz="1300" b="0" dirty="0">
                <a:solidFill>
                  <a:srgbClr val="C7DBE8"/>
                </a:solidFill>
                <a:latin typeface="Aptos"/>
              </a:rPr>
              <a:t> con la </a:t>
            </a:r>
            <a:r>
              <a:rPr sz="1300" b="0" dirty="0" err="1">
                <a:solidFill>
                  <a:srgbClr val="C7DBE8"/>
                </a:solidFill>
                <a:latin typeface="Aptos"/>
              </a:rPr>
              <a:t>institución</a:t>
            </a:r>
            <a:endParaRPr sz="1300" b="0" dirty="0">
              <a:solidFill>
                <a:srgbClr val="C7DBE8"/>
              </a:solidFill>
              <a:latin typeface="Aptos"/>
            </a:endParaRPr>
          </a:p>
        </p:txBody>
      </p:sp>
      <p:cxnSp>
        <p:nvCxnSpPr>
          <p:cNvPr id="29" name="Connector 28"/>
          <p:cNvCxnSpPr/>
          <p:nvPr/>
        </p:nvCxnSpPr>
        <p:spPr>
          <a:xfrm flipH="1">
            <a:off x="2322576" y="3621024"/>
            <a:ext cx="3767328" cy="420624"/>
          </a:xfrm>
          <a:prstGeom prst="line">
            <a:avLst/>
          </a:prstGeom>
          <a:ln w="21590">
            <a:solidFill>
              <a:srgbClr val="D9A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94360" y="4041648"/>
            <a:ext cx="3456432" cy="914400"/>
          </a:xfrm>
          <a:prstGeom prst="roundRect">
            <a:avLst/>
          </a:prstGeom>
          <a:solidFill>
            <a:srgbClr val="FFF5D8"/>
          </a:solidFill>
          <a:ln w="12700">
            <a:solidFill>
              <a:srgbClr val="D9A5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58952" y="4297680"/>
            <a:ext cx="402336" cy="40233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42976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E1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7592" y="4178808"/>
            <a:ext cx="249631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dirty="0" err="1">
                <a:solidFill>
                  <a:srgbClr val="102A43"/>
                </a:solidFill>
                <a:latin typeface="Aptos"/>
              </a:rPr>
              <a:t>Documentación</a:t>
            </a:r>
            <a:r>
              <a:rPr sz="17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02A43"/>
                </a:solidFill>
                <a:latin typeface="Aptos"/>
              </a:rPr>
              <a:t>incompleta</a:t>
            </a:r>
            <a:endParaRPr sz="17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07592" y="4517136"/>
            <a:ext cx="24963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A"/>
                </a:solidFill>
                <a:latin typeface="Aptos"/>
              </a:rPr>
              <a:t>Nuevas visitas y observaciones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89904" y="3621024"/>
            <a:ext cx="54864" cy="420624"/>
          </a:xfrm>
          <a:prstGeom prst="line">
            <a:avLst/>
          </a:prstGeom>
          <a:ln w="21590">
            <a:solidFill>
              <a:srgbClr val="D9A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416552" y="4041648"/>
            <a:ext cx="3456432" cy="914400"/>
          </a:xfrm>
          <a:prstGeom prst="roundRect">
            <a:avLst/>
          </a:prstGeom>
          <a:solidFill>
            <a:srgbClr val="FFF5D8"/>
          </a:solidFill>
          <a:ln w="12700">
            <a:solidFill>
              <a:srgbClr val="D9A5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81144" y="4297680"/>
            <a:ext cx="402336" cy="40233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81144" y="42976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E2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9784" y="4178808"/>
            <a:ext cx="249631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Costos evitables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9784" y="4517136"/>
            <a:ext cx="24963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A"/>
                </a:solidFill>
                <a:latin typeface="Aptos"/>
              </a:rPr>
              <a:t>Transporte, copias y permisos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89904" y="3621024"/>
            <a:ext cx="3877056" cy="420624"/>
          </a:xfrm>
          <a:prstGeom prst="line">
            <a:avLst/>
          </a:prstGeom>
          <a:ln w="21590">
            <a:solidFill>
              <a:srgbClr val="D9A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238744" y="4041648"/>
            <a:ext cx="3456432" cy="914400"/>
          </a:xfrm>
          <a:prstGeom prst="roundRect">
            <a:avLst/>
          </a:prstGeom>
          <a:solidFill>
            <a:srgbClr val="FFF5D8"/>
          </a:solidFill>
          <a:ln w="12700">
            <a:solidFill>
              <a:srgbClr val="D9A5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403336" y="4297680"/>
            <a:ext cx="402336" cy="40233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03336" y="42976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E3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51976" y="4178808"/>
            <a:ext cx="249631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Incertidumbre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1976" y="4517136"/>
            <a:ext cx="24963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A"/>
                </a:solidFill>
                <a:latin typeface="Aptos"/>
              </a:rPr>
              <a:t>Pérdida de control y temor al error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" y="5394960"/>
            <a:ext cx="9912096" cy="676656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17320" y="5550408"/>
            <a:ext cx="936345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>
                <a:solidFill>
                  <a:srgbClr val="102A43"/>
                </a:solidFill>
                <a:latin typeface="Aptos"/>
              </a:rPr>
              <a:t>Pregunta: ¿en qué medida una app con información oficial versionada e IA reduce errores, tiempo de búsqueda y visitas innecesarias?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Objetivos y métricas de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QUÉ SE CONSTRUYE Y CÓMO SE DEMOSTRARÁ SU VALOR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PROBLEMA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097280"/>
            <a:ext cx="10991088" cy="93268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298448"/>
            <a:ext cx="1371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D9A514"/>
                </a:solidFill>
                <a:latin typeface="Aptos"/>
              </a:rP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225296"/>
            <a:ext cx="8942832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50" b="1">
                <a:solidFill>
                  <a:srgbClr val="FFFFFF"/>
                </a:solidFill>
                <a:latin typeface="Aptos"/>
              </a:rPr>
              <a:t>Diseñar y desarrollar un MVP móvil que centralice, estructure y personalice la orientación sobre trámites públicos bolivianos.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37744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58952" y="2615184"/>
            <a:ext cx="347472" cy="347472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6151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496312"/>
            <a:ext cx="12252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Modelar necesidades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852928"/>
            <a:ext cx="12252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Trámites de alta demanda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237744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999232" y="2615184"/>
            <a:ext cx="347472" cy="347472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99232" y="26151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496312"/>
            <a:ext cx="12252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Construir catálogo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852928"/>
            <a:ext cx="12252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Fuentes, costos y versiones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3208" y="237744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39512" y="2615184"/>
            <a:ext cx="347472" cy="347472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39512" y="26151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6712" y="2496312"/>
            <a:ext cx="12252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Implementar producto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6712" y="2852928"/>
            <a:ext cx="12252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Flutter + API 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488" y="237744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79792" y="2615184"/>
            <a:ext cx="347472" cy="347472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79792" y="26151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2496312"/>
            <a:ext cx="12252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Integrar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2852928"/>
            <a:ext cx="12252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Gemini/Qwen intercambiables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73768" y="237744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0072" y="2615184"/>
            <a:ext cx="347472" cy="347472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0072" y="26151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7272" y="2496312"/>
            <a:ext cx="12252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Validar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7272" y="2852928"/>
            <a:ext cx="12252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Usabilidad, precisión y economía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776472"/>
            <a:ext cx="2468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INDICADORES DE VALIDACIÓN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151376"/>
            <a:ext cx="3401568" cy="64008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04672" y="4306824"/>
            <a:ext cx="310896" cy="310896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43068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4251960"/>
            <a:ext cx="260604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Preparación completa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507992"/>
            <a:ext cx="2606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Aptos"/>
              </a:rPr>
              <a:t>Documentos reunidos antes de acudir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07407" y="4151376"/>
            <a:ext cx="3401568" cy="64008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553712" y="4306824"/>
            <a:ext cx="310896" cy="310896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3712" y="43068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79" y="4251960"/>
            <a:ext cx="260604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Primer intento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3479" y="4507992"/>
            <a:ext cx="2606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Aptos"/>
              </a:rPr>
              <a:t>Sin nueva visita por requisitos faltantes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56448" y="4151376"/>
            <a:ext cx="3401568" cy="64008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302752" y="4306824"/>
            <a:ext cx="310896" cy="310896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02752" y="43068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251960"/>
            <a:ext cx="260604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Tiempo de orientación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507992"/>
            <a:ext cx="2606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Aptos"/>
              </a:rPr>
              <a:t>Minutos hasta obtener una guía útil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4983480"/>
            <a:ext cx="3401568" cy="640080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04672" y="5138928"/>
            <a:ext cx="310896" cy="31089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4672" y="51389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084064"/>
            <a:ext cx="260604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Exactitud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4440" y="5340096"/>
            <a:ext cx="2606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Aptos"/>
              </a:rPr>
              <a:t>Casos correctos sobre conjunto evaluado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07407" y="4983480"/>
            <a:ext cx="3401568" cy="640080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553712" y="5138928"/>
            <a:ext cx="310896" cy="31089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53712" y="51389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83479" y="5084064"/>
            <a:ext cx="260604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Respuestas con fuente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83479" y="5340096"/>
            <a:ext cx="2606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Aptos"/>
              </a:rPr>
              <a:t>Enlace, institución y fecha visibles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56448" y="4983480"/>
            <a:ext cx="3401568" cy="640080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302752" y="5138928"/>
            <a:ext cx="310896" cy="31089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02752" y="51389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5084064"/>
            <a:ext cx="260604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Satisfacción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32520" y="5340096"/>
            <a:ext cx="2606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5F6B7A"/>
                </a:solidFill>
                <a:latin typeface="Aptos"/>
              </a:rPr>
              <a:t>Utilidad percibida y recomendación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Descripción del emprendimiento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UNA CAPA DE ORIENTACIÓN ANTES DEL CANAL OFICIAL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SOLUCIÓN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097280"/>
            <a:ext cx="10991088" cy="71323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280160"/>
            <a:ext cx="1040587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Antes de hacer fila, el ciudadano sabrá qué preparar, dónde ir y qué verificar.</a:t>
            </a:r>
          </a:p>
        </p:txBody>
      </p:sp>
      <p:sp>
        <p:nvSpPr>
          <p:cNvPr id="10" name="Chevron 9"/>
          <p:cNvSpPr/>
          <p:nvPr/>
        </p:nvSpPr>
        <p:spPr>
          <a:xfrm>
            <a:off x="621792" y="2139696"/>
            <a:ext cx="2048256" cy="694944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2139696"/>
            <a:ext cx="1837944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  Describir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962656"/>
            <a:ext cx="17007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5F6B7A"/>
                </a:solidFill>
                <a:latin typeface="Aptos"/>
              </a:rPr>
              <a:t>Necesidad</a:t>
            </a:r>
          </a:p>
        </p:txBody>
      </p:sp>
      <p:sp>
        <p:nvSpPr>
          <p:cNvPr id="13" name="Chevron 12"/>
          <p:cNvSpPr/>
          <p:nvPr/>
        </p:nvSpPr>
        <p:spPr>
          <a:xfrm>
            <a:off x="2862072" y="2139696"/>
            <a:ext cx="2048256" cy="694944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35224" y="2139696"/>
            <a:ext cx="1837944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  Aclarar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962656"/>
            <a:ext cx="17007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5F6B7A"/>
                </a:solidFill>
                <a:latin typeface="Aptos"/>
              </a:rPr>
              <a:t>Caso personal</a:t>
            </a:r>
          </a:p>
        </p:txBody>
      </p:sp>
      <p:sp>
        <p:nvSpPr>
          <p:cNvPr id="16" name="Chevron 15"/>
          <p:cNvSpPr/>
          <p:nvPr/>
        </p:nvSpPr>
        <p:spPr>
          <a:xfrm>
            <a:off x="5102352" y="2139696"/>
            <a:ext cx="2048256" cy="694944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75504" y="2139696"/>
            <a:ext cx="1837944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  Orientar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962656"/>
            <a:ext cx="17007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5F6B7A"/>
                </a:solidFill>
                <a:latin typeface="Aptos"/>
              </a:rPr>
              <a:t>Guía verificable</a:t>
            </a:r>
          </a:p>
        </p:txBody>
      </p:sp>
      <p:sp>
        <p:nvSpPr>
          <p:cNvPr id="19" name="Chevron 18"/>
          <p:cNvSpPr/>
          <p:nvPr/>
        </p:nvSpPr>
        <p:spPr>
          <a:xfrm>
            <a:off x="7342632" y="2139696"/>
            <a:ext cx="2048256" cy="694944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15784" y="2139696"/>
            <a:ext cx="1837944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  Preparar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962656"/>
            <a:ext cx="17007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5F6B7A"/>
                </a:solidFill>
                <a:latin typeface="Aptos"/>
              </a:rPr>
              <a:t>Checklist</a:t>
            </a:r>
          </a:p>
        </p:txBody>
      </p:sp>
      <p:sp>
        <p:nvSpPr>
          <p:cNvPr id="22" name="Chevron 21"/>
          <p:cNvSpPr/>
          <p:nvPr/>
        </p:nvSpPr>
        <p:spPr>
          <a:xfrm>
            <a:off x="9582912" y="2139696"/>
            <a:ext cx="2048256" cy="694944"/>
          </a:xfrm>
          <a:prstGeom prst="chevron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56064" y="2139696"/>
            <a:ext cx="1837944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  Derivar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2962656"/>
            <a:ext cx="17007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5F6B7A"/>
                </a:solidFill>
                <a:latin typeface="Aptos"/>
              </a:rPr>
              <a:t>Canal oficial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575304"/>
            <a:ext cx="340156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3575304"/>
            <a:ext cx="82296" cy="19385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" y="3758184"/>
            <a:ext cx="2962656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0F8B8D"/>
                </a:solidFill>
                <a:latin typeface="Aptos"/>
              </a:rPr>
              <a:t>EXPERIENCIA CIUDADANA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142232"/>
            <a:ext cx="2926080" cy="12070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Búsqueda natural</a:t>
            </a:r>
            <a:r>
              <a:t/>
            </a:r>
            <a:br/>
            <a:r>
              <a:t>Fichas consistentes</a:t>
            </a:r>
            <a:br/>
            <a:r>
              <a:t>Checklist y favoritos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98264" y="3575304"/>
            <a:ext cx="340156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98264" y="3575304"/>
            <a:ext cx="82296" cy="19385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45152" y="3758184"/>
            <a:ext cx="2962656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3478C7"/>
                </a:solidFill>
                <a:latin typeface="Aptos"/>
              </a:rPr>
              <a:t>CONFIANZA VERIFICABLE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4142232"/>
            <a:ext cx="2926080" cy="12070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Fuente y vigencia</a:t>
            </a:r>
            <a:r>
              <a:t/>
            </a:r>
            <a:br/>
            <a:r>
              <a:t>Reglas condicionales</a:t>
            </a:r>
            <a:br/>
            <a:r>
              <a:t>Respuesta estructurada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575304"/>
            <a:ext cx="340156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60" y="3575304"/>
            <a:ext cx="82296" cy="193852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85048" y="3758184"/>
            <a:ext cx="2962656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D9A514"/>
                </a:solidFill>
                <a:latin typeface="Aptos"/>
              </a:rPr>
              <a:t>LÍMITE RESPONSABLE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142232"/>
            <a:ext cx="2926080" cy="12070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Abstención</a:t>
            </a:r>
            <a:r>
              <a:t/>
            </a:r>
            <a:br/>
            <a:r>
              <a:t>No decide ni tramita</a:t>
            </a:r>
            <a:br/>
            <a:r>
              <a:t>Deriva a la autoridad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38144" y="5797296"/>
            <a:ext cx="5340096" cy="347472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21024" y="5879592"/>
            <a:ext cx="497433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0B6B6C"/>
                </a:solidFill>
                <a:latin typeface="Aptos"/>
              </a:rPr>
              <a:t>Alcance inicial: 20–30 trámites de alta demanda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Requisitos del sistema · Funcionales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FUNCIONES ESENCIALES DEL MVP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143000"/>
            <a:ext cx="877824" cy="47548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261872"/>
            <a:ext cx="658368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CÓDIGO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7632" y="1143000"/>
            <a:ext cx="8156448" cy="47548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1261872"/>
            <a:ext cx="7936992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REQUISITO FUNCIONAL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93808" y="1143000"/>
            <a:ext cx="1664208" cy="47548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03536" y="1261872"/>
            <a:ext cx="1444752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PRIORIDAD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636776"/>
            <a:ext cx="87782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27632" y="1636776"/>
            <a:ext cx="8156448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93808" y="1636776"/>
            <a:ext cx="1664208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1810512"/>
            <a:ext cx="6766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0F8B8D"/>
                </a:solidFill>
                <a:latin typeface="Aptos"/>
              </a:rPr>
              <a:t>RF-01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1746504"/>
            <a:ext cx="77175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Buscar trámites por texto, categoría o institución.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59568" y="1792224"/>
            <a:ext cx="914400" cy="283464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0" y="1856232"/>
            <a:ext cx="768096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ALTA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331720"/>
            <a:ext cx="877824" cy="61264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27632" y="2331720"/>
            <a:ext cx="8156448" cy="61264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93808" y="2331720"/>
            <a:ext cx="1664208" cy="61264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2505456"/>
            <a:ext cx="6766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0F8B8D"/>
                </a:solidFill>
                <a:latin typeface="Aptos"/>
              </a:rPr>
              <a:t>RF-02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2441448"/>
            <a:ext cx="77175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Visualizar ficha con fuente y fecha de última verificación.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59568" y="2487168"/>
            <a:ext cx="914400" cy="283464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20" y="2551176"/>
            <a:ext cx="768096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026664"/>
            <a:ext cx="877824" cy="61264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627632" y="3026664"/>
            <a:ext cx="8156448" cy="61264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893808" y="3026664"/>
            <a:ext cx="1664208" cy="61264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3200400"/>
            <a:ext cx="6766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0F8B8D"/>
                </a:solidFill>
                <a:latin typeface="Aptos"/>
              </a:rPr>
              <a:t>RF-03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47088" y="3136392"/>
            <a:ext cx="77175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Conversar con el asistente y obtener una guía personalizada.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59568" y="3182112"/>
            <a:ext cx="914400" cy="283464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20" y="3246120"/>
            <a:ext cx="768096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ALTA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721608"/>
            <a:ext cx="87782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627632" y="3721608"/>
            <a:ext cx="8156448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93808" y="3721608"/>
            <a:ext cx="1664208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8952" y="3895344"/>
            <a:ext cx="6766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0F8B8D"/>
                </a:solidFill>
                <a:latin typeface="Aptos"/>
              </a:rPr>
              <a:t>RF-04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3831336"/>
            <a:ext cx="77175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Generar y guardar checklist de documentos.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59568" y="3877056"/>
            <a:ext cx="914400" cy="283464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32720" y="3941064"/>
            <a:ext cx="768096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ALTA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16552"/>
            <a:ext cx="87782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627632" y="4416552"/>
            <a:ext cx="8156448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893808" y="4416552"/>
            <a:ext cx="1664208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" y="4590288"/>
            <a:ext cx="6766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0F8B8D"/>
                </a:solidFill>
                <a:latin typeface="Aptos"/>
              </a:rPr>
              <a:t>RF-05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47088" y="4526280"/>
            <a:ext cx="77175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Registrar reportes de información posiblemente desactualizada.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59568" y="4572000"/>
            <a:ext cx="914400" cy="283464"/>
          </a:xfrm>
          <a:prstGeom prst="round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332720" y="4636008"/>
            <a:ext cx="768096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MEDIA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111496"/>
            <a:ext cx="877824" cy="61264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627632" y="5111496"/>
            <a:ext cx="8156448" cy="61264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893808" y="5111496"/>
            <a:ext cx="1664208" cy="61264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8952" y="5285232"/>
            <a:ext cx="6766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0F8B8D"/>
                </a:solidFill>
                <a:latin typeface="Aptos"/>
              </a:rPr>
              <a:t>RF-06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47088" y="5221224"/>
            <a:ext cx="77175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Administrar versiones y estados de publicación de trámites.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59568" y="5266944"/>
            <a:ext cx="914400" cy="283464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332720" y="5330952"/>
            <a:ext cx="768096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ALTA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84831" y="5961888"/>
            <a:ext cx="8028431" cy="292608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240280" y="6025896"/>
            <a:ext cx="7717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69" b="1">
                <a:solidFill>
                  <a:srgbClr val="3478C7"/>
                </a:solidFill>
                <a:latin typeface="Aptos"/>
              </a:rPr>
              <a:t>Núcleo defendible: búsqueda + evidencia + guía personalizada + checklist + versionado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Requisitos del sistema · No funcionales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RENDIMIENTO, CONFIANZA Y PORTABILIDAD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417320"/>
            <a:ext cx="868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3478C7"/>
                </a:solidFill>
                <a:latin typeface="Aptos"/>
              </a:rPr>
              <a:t>RNF-01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792224"/>
            <a:ext cx="298094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&lt; 2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31136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1">
                <a:solidFill>
                  <a:srgbClr val="5F6B7A"/>
                </a:solidFill>
                <a:latin typeface="Aptos"/>
              </a:rPr>
              <a:t>API NO GENERATIVA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2944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7212F"/>
                </a:solidFill>
                <a:latin typeface="Aptos"/>
              </a:rPr>
              <a:t>Tiempo de respuesta inferior a 2 segundos.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1234440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417320"/>
            <a:ext cx="868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Aptos"/>
              </a:rPr>
              <a:t>RNF-02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792224"/>
            <a:ext cx="298094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99 %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31136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1">
                <a:solidFill>
                  <a:srgbClr val="5F6B7A"/>
                </a:solidFill>
                <a:latin typeface="Aptos"/>
              </a:rPr>
              <a:t>PILOTO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96312"/>
            <a:ext cx="2944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7212F"/>
                </a:solidFill>
                <a:latin typeface="Aptos"/>
              </a:rPr>
              <a:t>Disponibilidad objetivo durante el piloto.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234440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67344" y="1417320"/>
            <a:ext cx="868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C84C4C"/>
                </a:solidFill>
                <a:latin typeface="Aptos"/>
              </a:rPr>
              <a:t>RNF-03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1792224"/>
            <a:ext cx="298094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SECURE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231136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1">
                <a:solidFill>
                  <a:srgbClr val="5F6B7A"/>
                </a:solidFill>
                <a:latin typeface="Aptos"/>
              </a:rPr>
              <a:t>PROTECCIÓN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496312"/>
            <a:ext cx="2944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7212F"/>
                </a:solidFill>
                <a:latin typeface="Aptos"/>
              </a:rPr>
              <a:t>TLS, secretos, RBAC y auditoría.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300984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3483864"/>
            <a:ext cx="868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D9A514"/>
                </a:solidFill>
                <a:latin typeface="Aptos"/>
              </a:rPr>
              <a:t>RNF-04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858768"/>
            <a:ext cx="298094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LOW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297680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1">
                <a:solidFill>
                  <a:srgbClr val="5F6B7A"/>
                </a:solidFill>
                <a:latin typeface="Aptos"/>
              </a:rPr>
              <a:t>ACCESIBILIDAD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562856"/>
            <a:ext cx="2944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7212F"/>
                </a:solidFill>
                <a:latin typeface="Aptos"/>
              </a:rPr>
              <a:t>Interfaz legible con conexión limitada.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3984" y="3300984"/>
            <a:ext cx="345643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3483864"/>
            <a:ext cx="868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7652A8"/>
                </a:solidFill>
                <a:latin typeface="Aptos"/>
              </a:rPr>
              <a:t>RNF-05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858768"/>
            <a:ext cx="298094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PORTABLE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297680"/>
            <a:ext cx="2926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1">
                <a:solidFill>
                  <a:srgbClr val="5F6B7A"/>
                </a:solidFill>
                <a:latin typeface="Aptos"/>
              </a:rPr>
              <a:t>ARQUITECTURA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562856"/>
            <a:ext cx="2944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7212F"/>
                </a:solidFill>
                <a:latin typeface="Aptos"/>
              </a:rPr>
              <a:t>Cambio entre proveedores de IA y despliegue.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0456" y="3300984"/>
            <a:ext cx="3456432" cy="166420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94776" y="3584448"/>
            <a:ext cx="29077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D9A514"/>
                </a:solidFill>
                <a:latin typeface="Aptos"/>
              </a:rPr>
              <a:t>DECISIÓN DE DISEÑO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4014215"/>
            <a:ext cx="292608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La portabilidad evita quedar atados a un proveedor de IA.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00200" y="5650992"/>
            <a:ext cx="8997696" cy="47548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47088" y="5769864"/>
            <a:ext cx="8503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>
                <a:solidFill>
                  <a:srgbClr val="0B6B6C"/>
                </a:solidFill>
                <a:latin typeface="Aptos"/>
              </a:rPr>
              <a:t>Los RNF convierten precisión, disponibilidad, seguridad y conectividad en criterios verificables.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Justificación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FACTIBILIDAD TECNOLÓGICA CON IMPACTO CIUDADANO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ESTRATEGIA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25296"/>
            <a:ext cx="521208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1618488"/>
            <a:ext cx="530352" cy="530352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18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508760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0F8B8D"/>
                </a:solidFill>
                <a:latin typeface="Aptos"/>
              </a:rPr>
              <a:t>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1984248"/>
            <a:ext cx="38404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Aptos"/>
              </a:rPr>
              <a:t>Componentes maduros</a:t>
            </a:r>
            <a:r>
              <a:t/>
            </a:r>
            <a:br/>
            <a:r>
              <a:t>+ arquitectura modular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25296"/>
            <a:ext cx="521208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19088" y="1618488"/>
            <a:ext cx="530352" cy="530352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6184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508760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3478C7"/>
                </a:solidFill>
                <a:latin typeface="Aptos"/>
              </a:rPr>
              <a:t>ECONÓMICA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984248"/>
            <a:ext cx="38404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Aptos"/>
              </a:rPr>
              <a:t>Base multiplataforma</a:t>
            </a:r>
            <a:r>
              <a:t/>
            </a:r>
            <a:br/>
            <a:r>
              <a:t>+ costos variables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00984"/>
            <a:ext cx="521208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3694176"/>
            <a:ext cx="530352" cy="530352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94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584448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D9A514"/>
                </a:solidFill>
                <a:latin typeface="Aptos"/>
              </a:rPr>
              <a:t>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059936"/>
            <a:ext cx="38404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Aptos"/>
              </a:rPr>
              <a:t>Menos errores,</a:t>
            </a:r>
            <a:r>
              <a:t/>
            </a:r>
            <a:br/>
            <a:r>
              <a:t>desplazamientos e incertidumbre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5" y="3300984"/>
            <a:ext cx="521208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19088" y="3694176"/>
            <a:ext cx="530352" cy="530352"/>
          </a:xfrm>
          <a:prstGeom prst="ellipse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36941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584448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7652A8"/>
                </a:solidFill>
                <a:latin typeface="Aptos"/>
              </a:rPr>
              <a:t>ACADÉMICA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059936"/>
            <a:ext cx="38404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Aptos"/>
              </a:rPr>
              <a:t>Mercado + UX + software</a:t>
            </a:r>
            <a:r>
              <a:t/>
            </a:r>
            <a:br/>
            <a:r>
              <a:t>+ datos + IA + seguridad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669280"/>
            <a:ext cx="8531352" cy="5029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75688" y="5797296"/>
            <a:ext cx="8037575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INNOVACIÓN = IA COMO INTERFAZ + CATÁLOGO VERSIONADO COMO FUENTE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Público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TRES PERFILES PARA DISEÑAR; CINCO SEGMENTOS PARA CRECER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MERCADO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88720"/>
            <a:ext cx="3401568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1490472"/>
            <a:ext cx="658368" cy="658368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49047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38988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CAMILA ·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1746504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ESTUDIANTE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58568"/>
            <a:ext cx="2871216" cy="6035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Aptos"/>
              </a:rPr>
              <a:t>Fuente vigente</a:t>
            </a:r>
            <a:r>
              <a:t/>
            </a:r>
            <a:br/>
            <a:r>
              <a:t>+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188720"/>
            <a:ext cx="3401568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45152" y="1490472"/>
            <a:ext cx="658368" cy="658368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149047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256" y="138988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JOSÉ · 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6" y="1746504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3478C7"/>
                </a:solidFill>
                <a:latin typeface="Aptos"/>
              </a:rPr>
              <a:t>EMPRENDEDOR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258568"/>
            <a:ext cx="2871216" cy="6035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Aptos"/>
              </a:rPr>
              <a:t>Costos y secuencia</a:t>
            </a:r>
            <a:r>
              <a:t/>
            </a:r>
            <a:br/>
            <a:r>
              <a:t>para formalizar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1188720"/>
            <a:ext cx="3401568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80" y="1490472"/>
            <a:ext cx="658368" cy="658368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149047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138988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MARÍA · 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1746504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D9A514"/>
                </a:solidFill>
                <a:latin typeface="Aptos"/>
              </a:rPr>
              <a:t>CUIDADORA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2258568"/>
            <a:ext cx="2871216" cy="6035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Aptos"/>
              </a:rPr>
              <a:t>Simplicidad</a:t>
            </a:r>
            <a:r>
              <a:t/>
            </a:r>
            <a:br/>
            <a:r>
              <a:t>+ modo 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675887"/>
            <a:ext cx="1188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SEGMENTOS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069080"/>
            <a:ext cx="1993392" cy="841248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4215384"/>
            <a:ext cx="31089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3478C7"/>
                </a:solidFill>
                <a:latin typeface="Apto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" y="4169663"/>
            <a:ext cx="1307592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Ciudadanos 18–45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4069080"/>
            <a:ext cx="1993392" cy="841248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17520" y="4215384"/>
            <a:ext cx="31089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3478C7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169663"/>
            <a:ext cx="1307592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Emprendedores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02352" y="4069080"/>
            <a:ext cx="1993392" cy="841248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39512" y="4215384"/>
            <a:ext cx="31089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3478C7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2" y="4169663"/>
            <a:ext cx="1307592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Estudiantes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24344" y="4069080"/>
            <a:ext cx="1993392" cy="841248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61504" y="4215384"/>
            <a:ext cx="31089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3478C7"/>
                </a:solidFill>
                <a:latin typeface="Aptos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7264" y="4169663"/>
            <a:ext cx="1307592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Familias y cuidadores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46336" y="4069080"/>
            <a:ext cx="1993392" cy="841248"/>
          </a:xfrm>
          <a:prstGeom prst="roundRect">
            <a:avLst/>
          </a:prstGeom>
          <a:solidFill>
            <a:srgbClr val="FFF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83496" y="4215384"/>
            <a:ext cx="31089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D97745"/>
                </a:solidFill>
                <a:latin typeface="Aptos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9256" y="4169663"/>
            <a:ext cx="1307592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Instituciones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35024" y="5376672"/>
            <a:ext cx="9509760" cy="65836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00200" y="5596128"/>
            <a:ext cx="128016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D9A514"/>
                </a:solidFill>
                <a:latin typeface="Aptos"/>
              </a:rPr>
              <a:t>EARLY ADOPTERS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53512" y="5513832"/>
            <a:ext cx="753465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Estudiantes UMSA · jóvenes profesionales · emprendedores de La Paz · usuarios activos en redes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Modelo de negocio ·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FREEMIUM CIUDADANO CON ÉNFASIS INSTITUCIONAL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NEGOCIO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33271"/>
            <a:ext cx="2209190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1033271"/>
            <a:ext cx="2209190" cy="36576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202631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SOCIOS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536192"/>
            <a:ext cx="1989734" cy="3749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Instituciones oficiales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UMSA e incubadoras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Cloud y expertos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84678" y="1033271"/>
            <a:ext cx="2209190" cy="21351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84678" y="1033271"/>
            <a:ext cx="2209190" cy="365760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76118" y="1133856"/>
            <a:ext cx="202631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ACTIVIDADES CLAVE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4406" y="1536192"/>
            <a:ext cx="1989734" cy="15499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Curación oficial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Desarrollo y monitoreo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Evaluación de 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84678" y="3232404"/>
            <a:ext cx="2209190" cy="21351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684678" y="3232404"/>
            <a:ext cx="2209190" cy="365760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76118" y="3332988"/>
            <a:ext cx="202631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RECURSOS CLAVE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4406" y="3735324"/>
            <a:ext cx="1989734" cy="15499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Catálogo validado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Equipo y arquitectura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Marca y relaciones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7876" y="1033271"/>
            <a:ext cx="2209190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957876" y="1033271"/>
            <a:ext cx="2209190" cy="365760"/>
          </a:xfrm>
          <a:prstGeom prst="round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49316" y="1133856"/>
            <a:ext cx="202631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PROPUESTA DE VALOR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7604" y="1536192"/>
            <a:ext cx="1989734" cy="3749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Guía verificable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Personalización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Checklist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Ahorro de tiempo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IA con límites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1075" y="1033271"/>
            <a:ext cx="2209190" cy="21351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231075" y="1033271"/>
            <a:ext cx="2209190" cy="365760"/>
          </a:xfrm>
          <a:prstGeom prst="round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22515" y="1133856"/>
            <a:ext cx="202631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RELACIÓN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0803" y="1536192"/>
            <a:ext cx="1989734" cy="15499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Autoservicio con IA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Comunidad beta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Acompañamiento B2B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31075" y="3232404"/>
            <a:ext cx="2209190" cy="21351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231075" y="3232404"/>
            <a:ext cx="2209190" cy="365760"/>
          </a:xfrm>
          <a:prstGeom prst="round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22515" y="3332988"/>
            <a:ext cx="202631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CANALES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0803" y="3735324"/>
            <a:ext cx="1989734" cy="15499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App y sitio público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Alianzas y redes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Pilotos y QR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4273" y="1033271"/>
            <a:ext cx="2209190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504273" y="1033271"/>
            <a:ext cx="2209190" cy="365760"/>
          </a:xfrm>
          <a:prstGeom prst="roundRect">
            <a:avLst/>
          </a:prstGeom>
          <a:solidFill>
            <a:srgbClr val="0B6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95713" y="1133856"/>
            <a:ext cx="202631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SEGMENTOS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4001" y="1536192"/>
            <a:ext cx="1989734" cy="3749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Ciudadanos 18–45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Emprendedores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Estudiantes y familias</a:t>
            </a:r>
          </a:p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Instituciones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5431536"/>
            <a:ext cx="56509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11480" y="5431536"/>
            <a:ext cx="5650992" cy="365760"/>
          </a:xfrm>
          <a:prstGeom prst="roundRect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5532120"/>
            <a:ext cx="546811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ESTRUCTURA DE COSTOS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" y="5934456"/>
            <a:ext cx="5431536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IA · nube · curación · soporte · seguridad · marketing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5431536"/>
            <a:ext cx="56509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126480" y="5431536"/>
            <a:ext cx="5650992" cy="3657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0" y="5532120"/>
            <a:ext cx="546811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FUENTES DE INGRESO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5934456"/>
            <a:ext cx="5431536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02A43"/>
                </a:solidFill>
                <a:latin typeface="Aptos"/>
              </a:defRPr>
            </a:pPr>
            <a:r>
              <a:rPr>
                <a:solidFill>
                  <a:srgbClr val="102A43"/>
                </a:solidFill>
              </a:rPr>
              <a:t>•  Premium · licencias · white-label · API · consultoría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99232" y="6327648"/>
            <a:ext cx="6199632" cy="2286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136392" y="6373368"/>
            <a:ext cx="5925312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Información esencial gratuita · Sin venta de datos personales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BFD8E8"/>
                </a:solidFill>
                <a:latin typeface="Aptos"/>
              </a:rPr>
              <a:t>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BF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Stack tecnológico del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BFD8E8"/>
                </a:solidFill>
                <a:latin typeface="Aptos"/>
              </a:rPr>
              <a:t>HERRAMIENTAS CONCRETAS PARA CONSTRUIR, DESPLEGAR Y MEDIR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234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C7DBE8"/>
                </a:solidFill>
                <a:latin typeface="Aptos"/>
              </a:rPr>
              <a:t>TECNOLOGÍA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16736"/>
            <a:ext cx="2057400" cy="20299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98448" y="1572768"/>
            <a:ext cx="566928" cy="566928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98448" y="15727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165506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8B8D"/>
                </a:solidFill>
                <a:latin typeface="Aptos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88336"/>
            <a:ext cx="172821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Flutter · Dart</a:t>
            </a:r>
            <a:r>
              <a:t/>
            </a:r>
            <a:br/>
            <a:r>
              <a:t>Riverpod · Dio ·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316736"/>
            <a:ext cx="2057400" cy="20299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1880" y="1572768"/>
            <a:ext cx="566928" cy="566928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5727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322576"/>
            <a:ext cx="165506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478C7"/>
                </a:solidFill>
                <a:latin typeface="Apto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2688336"/>
            <a:ext cx="172821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Go · Gin</a:t>
            </a:r>
            <a:r>
              <a:t/>
            </a:r>
            <a:br/>
            <a:r>
              <a:t>pgx · sqlc · Goose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792" y="1316736"/>
            <a:ext cx="2057400" cy="20299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25312" y="1572768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5312" y="15727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2322576"/>
            <a:ext cx="165506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Aptos"/>
              </a:rPr>
              <a:t>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3" y="2688336"/>
            <a:ext cx="172821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PostgreSQL · Neon</a:t>
            </a:r>
            <a:r>
              <a:t/>
            </a:r>
            <a:br/>
            <a:r>
              <a:t>Full-text · pgvector opcional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3" y="1316736"/>
            <a:ext cx="2057400" cy="20299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38744" y="1572768"/>
            <a:ext cx="566928" cy="566928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38744" y="15727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2322576"/>
            <a:ext cx="165506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D9A514"/>
                </a:solidFill>
                <a:latin typeface="Aptos"/>
              </a:rPr>
              <a:t>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5" y="2688336"/>
            <a:ext cx="172821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Gemini · Qwen</a:t>
            </a:r>
            <a:r>
              <a:t/>
            </a:r>
            <a:br/>
            <a:r>
              <a:t>JSON Schema · RAG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0655" y="1316736"/>
            <a:ext cx="2057400" cy="20299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552176" y="1572768"/>
            <a:ext cx="566928" cy="566928"/>
          </a:xfrm>
          <a:prstGeom prst="ellipse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52176" y="15727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322576"/>
            <a:ext cx="165506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7652A8"/>
                </a:solidFill>
                <a:latin typeface="Aptos"/>
              </a:rPr>
              <a:t>OPERACIÓN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7" y="2688336"/>
            <a:ext cx="172821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Render · Docker</a:t>
            </a:r>
            <a:r>
              <a:t/>
            </a:r>
            <a:br/>
            <a:r>
              <a:t>GitHub Actions · OpenAPI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867912"/>
            <a:ext cx="2057400" cy="1115568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" y="4069080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C7DBE8"/>
                </a:solidFill>
                <a:latin typeface="Aptos"/>
              </a:rPr>
              <a:t>Simplicidad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416552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Monolito modular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360" y="3867912"/>
            <a:ext cx="2057400" cy="1115568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17520" y="4069080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C7DBE8"/>
                </a:solidFill>
                <a:latin typeface="Aptos"/>
              </a:rPr>
              <a:t>Portabilidad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416552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Adaptadores de 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93792" y="3867912"/>
            <a:ext cx="2057400" cy="1115568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30952" y="4069080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C7DBE8"/>
                </a:solidFill>
                <a:latin typeface="Aptos"/>
              </a:rPr>
              <a:t>Trazabilidad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0952" y="4416552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Fuentes y versiones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223" y="3867912"/>
            <a:ext cx="2057400" cy="1115568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44383" y="4069080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C7DBE8"/>
                </a:solidFill>
                <a:latin typeface="Aptos"/>
              </a:rPr>
              <a:t>Seguridad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3" y="4416552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Diseño desde el inicio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0655" y="3867912"/>
            <a:ext cx="2057400" cy="1115568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57815" y="4069080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C7DBE8"/>
                </a:solidFill>
                <a:latin typeface="Aptos"/>
              </a:rPr>
              <a:t>Observabilidad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57815" y="4416552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Logs, métricas y alertas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9968" y="5577840"/>
            <a:ext cx="813816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6856" y="5696712"/>
            <a:ext cx="7644383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Una sola API aplica permisos, validación y auditoría; la app nunca expone Neon ni claves de IA.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AFC2D3"/>
                </a:solidFill>
                <a:latin typeface="Aptos"/>
              </a:rPr>
              <a:t>MI TRÁMITE BOLIVIA  /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Arquitectura lógica propuesta del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UN BACKEND; LÍMITES CLAROS; ACCESO CONTROLADO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ARQUITECTURA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97280"/>
            <a:ext cx="2743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DISPOSITIVOS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35608"/>
            <a:ext cx="2304288" cy="768096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609344"/>
            <a:ext cx="193852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APP MÓVIL</a:t>
            </a:r>
            <a:r>
              <a:t/>
            </a:r>
            <a:br/>
            <a:r>
              <a:t>Flutter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6976" y="1435608"/>
            <a:ext cx="2304288" cy="768096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9856" y="1609344"/>
            <a:ext cx="193852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PANEL WEB</a:t>
            </a:r>
            <a:r>
              <a:t/>
            </a:r>
            <a:br/>
            <a:r>
              <a:t>Flutter Web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10512" y="2203704"/>
            <a:ext cx="1289304" cy="393192"/>
          </a:xfrm>
          <a:prstGeom prst="line">
            <a:avLst/>
          </a:prstGeom>
          <a:ln w="25400">
            <a:solidFill>
              <a:srgbClr val="34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099816" y="2203704"/>
            <a:ext cx="1289304" cy="393192"/>
          </a:xfrm>
          <a:prstGeom prst="line">
            <a:avLst/>
          </a:prstGeom>
          <a:ln w="25400">
            <a:solidFill>
              <a:srgbClr val="34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" y="2596896"/>
            <a:ext cx="4882896" cy="512064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2724912"/>
            <a:ext cx="4517136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REST / HTTPS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429000"/>
            <a:ext cx="446227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566160"/>
            <a:ext cx="40050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50" b="1">
                <a:solidFill>
                  <a:srgbClr val="102A43"/>
                </a:solidFill>
                <a:latin typeface="Aptos"/>
              </a:rPr>
              <a:t>API Gateway /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3941064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5F6B7A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78808"/>
            <a:ext cx="4462272" cy="530352"/>
          </a:xfrm>
          <a:prstGeom prst="roundRect">
            <a:avLst/>
          </a:prstGeom>
          <a:solidFill>
            <a:srgbClr val="FFF5D8"/>
          </a:solidFill>
          <a:ln w="12700">
            <a:solidFill>
              <a:srgbClr val="D9A5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315968"/>
            <a:ext cx="40050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50" b="1">
                <a:solidFill>
                  <a:srgbClr val="102A43"/>
                </a:solidFill>
                <a:latin typeface="Aptos"/>
              </a:rPr>
              <a:t>Monolito modular · negocio + autenticación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4690872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5F6B7A"/>
                </a:solidFill>
                <a:latin typeface="Apto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928616"/>
            <a:ext cx="446227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065776"/>
            <a:ext cx="40050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50" b="1">
                <a:solidFill>
                  <a:srgbClr val="102A43"/>
                </a:solidFill>
                <a:latin typeface="Aptos"/>
              </a:rPr>
              <a:t>Adaptadores de infraestructura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182112"/>
            <a:ext cx="446227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0F8B8D"/>
                </a:solidFill>
                <a:latin typeface="Aptos"/>
              </a:rPr>
              <a:t>BACKEND &amp; LÓGICA · 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1097280"/>
            <a:ext cx="424281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INFRAESTRUCTURA EXTERNA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1435608"/>
            <a:ext cx="5422392" cy="1069848"/>
          </a:xfrm>
          <a:prstGeom prst="roundRect">
            <a:avLst/>
          </a:prstGeom>
          <a:solidFill>
            <a:srgbClr val="E8F5F4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1664208"/>
            <a:ext cx="2240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POSTGRESQL EN NEON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002536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A"/>
                </a:solidFill>
                <a:latin typeface="Aptos"/>
              </a:rPr>
              <a:t>Contenido versionado · usuarios · checklist · auditoría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2889504"/>
            <a:ext cx="5422392" cy="1069848"/>
          </a:xfrm>
          <a:prstGeom prst="roundRect">
            <a:avLst/>
          </a:prstGeom>
          <a:solidFill>
            <a:srgbClr val="F0EAF8"/>
          </a:solidFill>
          <a:ln w="12700">
            <a:solidFill>
              <a:srgbClr val="76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3118104"/>
            <a:ext cx="2240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PROVEEDORES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456432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A"/>
                </a:solidFill>
                <a:latin typeface="Aptos"/>
              </a:rPr>
              <a:t>Gemini / Qwen detrás de una interfaz común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4343400"/>
            <a:ext cx="5422392" cy="106984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19088" y="4572000"/>
            <a:ext cx="2240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RENDER + CI/CD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910328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A"/>
                </a:solidFill>
                <a:latin typeface="Aptos"/>
              </a:rPr>
              <a:t>Docker · GitHub Actions · logs · métricas · alertas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5330952" y="1965960"/>
            <a:ext cx="813816" cy="2743200"/>
          </a:xfrm>
          <a:prstGeom prst="line">
            <a:avLst/>
          </a:prstGeom>
          <a:ln w="2286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330952" y="3419856"/>
            <a:ext cx="813816" cy="1289304"/>
          </a:xfrm>
          <a:prstGeom prst="line">
            <a:avLst/>
          </a:prstGeom>
          <a:ln w="22860">
            <a:solidFill>
              <a:srgbClr val="76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30952" y="4709160"/>
            <a:ext cx="813816" cy="164592"/>
          </a:xfrm>
          <a:prstGeom prst="line">
            <a:avLst/>
          </a:prstGeom>
          <a:ln w="22860">
            <a:solidFill>
              <a:srgbClr val="34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783080" y="5833872"/>
            <a:ext cx="8641080" cy="33832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56816" y="5916168"/>
            <a:ext cx="829360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Regla: cliente → API Go → datos/IA. Nunca cliente → Neon o proveedor IA.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Modelo de datos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TRAZABILIDAD DEL CONTENIDO + PROTECCIÓN DE LA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DATOS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188720"/>
            <a:ext cx="3675887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389888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0F8B8D"/>
                </a:solidFill>
                <a:latin typeface="Aptos"/>
              </a:rPr>
              <a:t>CATÁLOGO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801368"/>
            <a:ext cx="164592" cy="1645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1783080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institution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93976"/>
            <a:ext cx="164592" cy="1645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2075688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procedure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386584"/>
            <a:ext cx="164592" cy="1645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2368296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procedure_version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679192"/>
            <a:ext cx="164592" cy="1645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2660904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188720"/>
            <a:ext cx="3675887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1389888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3478C7"/>
                </a:solidFill>
                <a:latin typeface="Aptos"/>
              </a:rPr>
              <a:t>REGLAS Y SERVICIO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1801368"/>
            <a:ext cx="164592" cy="164592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1783080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requirement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2093976"/>
            <a:ext cx="164592" cy="164592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075688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requirement_rule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2386584"/>
            <a:ext cx="164592" cy="164592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74920" y="2368296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location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3364991"/>
            <a:ext cx="3675887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3566160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D9A514"/>
                </a:solidFill>
                <a:latin typeface="Aptos"/>
              </a:rPr>
              <a:t>USUARIO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3977639"/>
            <a:ext cx="164592" cy="164592"/>
          </a:xfrm>
          <a:prstGeom prst="round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5568" y="3959352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user_checklist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4270248"/>
            <a:ext cx="164592" cy="164592"/>
          </a:xfrm>
          <a:prstGeom prst="round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5568" y="4251960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conversation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4562855"/>
            <a:ext cx="164592" cy="164592"/>
          </a:xfrm>
          <a:prstGeom prst="round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15568" y="4544568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feedback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3364991"/>
            <a:ext cx="3675887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0600" y="3566160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7652A8"/>
                </a:solidFill>
                <a:latin typeface="Aptos"/>
              </a:rPr>
              <a:t>GOBERNANZA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3977639"/>
            <a:ext cx="164592" cy="164592"/>
          </a:xfrm>
          <a:prstGeom prst="round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74920" y="3959352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audit_log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00600" y="4270248"/>
            <a:ext cx="164592" cy="164592"/>
          </a:xfrm>
          <a:prstGeom prst="round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74920" y="4251960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versiones inmutables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00600" y="4562855"/>
            <a:ext cx="164592" cy="164592"/>
          </a:xfrm>
          <a:prstGeom prst="round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4920" y="4544568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responsable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32520" y="1188720"/>
            <a:ext cx="2852928" cy="3986784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52560" y="1508760"/>
            <a:ext cx="221284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D9A514"/>
                </a:solidFill>
                <a:latin typeface="Aptos"/>
              </a:rPr>
              <a:t>SEGURIDAD</a:t>
            </a:r>
          </a:p>
        </p:txBody>
      </p:sp>
      <p:sp>
        <p:nvSpPr>
          <p:cNvPr id="44" name="Oval 43"/>
          <p:cNvSpPr/>
          <p:nvPr/>
        </p:nvSpPr>
        <p:spPr>
          <a:xfrm>
            <a:off x="9025128" y="1965960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25128" y="19659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27464" y="1984248"/>
            <a:ext cx="183794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OWASP API Top 10</a:t>
            </a:r>
          </a:p>
        </p:txBody>
      </p:sp>
      <p:sp>
        <p:nvSpPr>
          <p:cNvPr id="47" name="Oval 46"/>
          <p:cNvSpPr/>
          <p:nvPr/>
        </p:nvSpPr>
        <p:spPr>
          <a:xfrm>
            <a:off x="9025128" y="2377440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25128" y="2377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27464" y="2395728"/>
            <a:ext cx="183794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RBAC + JWT corto</a:t>
            </a:r>
          </a:p>
        </p:txBody>
      </p:sp>
      <p:sp>
        <p:nvSpPr>
          <p:cNvPr id="50" name="Oval 49"/>
          <p:cNvSpPr/>
          <p:nvPr/>
        </p:nvSpPr>
        <p:spPr>
          <a:xfrm>
            <a:off x="9025128" y="2788920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25128" y="27889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27464" y="2807208"/>
            <a:ext cx="183794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2FA administrativa</a:t>
            </a:r>
          </a:p>
        </p:txBody>
      </p:sp>
      <p:sp>
        <p:nvSpPr>
          <p:cNvPr id="53" name="Oval 52"/>
          <p:cNvSpPr/>
          <p:nvPr/>
        </p:nvSpPr>
        <p:spPr>
          <a:xfrm>
            <a:off x="9025128" y="3200400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25128" y="32004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27464" y="3218688"/>
            <a:ext cx="183794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TLS + secretos</a:t>
            </a:r>
          </a:p>
        </p:txBody>
      </p:sp>
      <p:sp>
        <p:nvSpPr>
          <p:cNvPr id="56" name="Oval 55"/>
          <p:cNvSpPr/>
          <p:nvPr/>
        </p:nvSpPr>
        <p:spPr>
          <a:xfrm>
            <a:off x="9025128" y="3611880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025128" y="36118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27464" y="3630168"/>
            <a:ext cx="183794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Rate limiting</a:t>
            </a:r>
          </a:p>
        </p:txBody>
      </p:sp>
      <p:sp>
        <p:nvSpPr>
          <p:cNvPr id="59" name="Oval 58"/>
          <p:cNvSpPr/>
          <p:nvPr/>
        </p:nvSpPr>
        <p:spPr>
          <a:xfrm>
            <a:off x="9025128" y="4023360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25128" y="40233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27464" y="4041648"/>
            <a:ext cx="183794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Auditoría + backups</a:t>
            </a:r>
          </a:p>
        </p:txBody>
      </p:sp>
      <p:sp>
        <p:nvSpPr>
          <p:cNvPr id="62" name="Oval 61"/>
          <p:cNvSpPr/>
          <p:nvPr/>
        </p:nvSpPr>
        <p:spPr>
          <a:xfrm>
            <a:off x="9025128" y="4434840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25128" y="44348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27464" y="4453127"/>
            <a:ext cx="183794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Minimización de datos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35608" y="5641848"/>
            <a:ext cx="9308592" cy="512064"/>
          </a:xfrm>
          <a:prstGeom prst="roundRect">
            <a:avLst/>
          </a:prstGeom>
          <a:solidFill>
            <a:srgbClr val="FC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664208" y="5769864"/>
            <a:ext cx="885139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30" b="1">
                <a:solidFill>
                  <a:srgbClr val="C84C4C"/>
                </a:solidFill>
                <a:latin typeface="Aptos"/>
              </a:rPr>
              <a:t>Privacidad del MVP: consultas sin cuenta · sin fotos de documentos · logs sin identificadores · eliminación de historial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BFD8E8"/>
                </a:solidFill>
                <a:latin typeface="Aptos"/>
              </a:rPr>
              <a:t>13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BF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El corazón de la IA: RAG controlado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BFD8E8"/>
                </a:solidFill>
                <a:latin typeface="Aptos"/>
              </a:rPr>
              <a:t>LA IA REDACTA; EL CATÁLOGO OFICIAL RESPALDA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234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C7DBE8"/>
                </a:solidFill>
                <a:latin typeface="Aptos"/>
              </a:rPr>
              <a:t>IA RESPONSABLE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81912"/>
            <a:ext cx="2029968" cy="13441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52728" y="1335024"/>
            <a:ext cx="530352" cy="530352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52728" y="13350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20240"/>
            <a:ext cx="17007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478C7"/>
                </a:solidFill>
                <a:latin typeface="Aptos"/>
              </a:rPr>
              <a:t>CONSULTA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22576"/>
            <a:ext cx="170078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Necesidad del 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039112"/>
            <a:ext cx="3108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AFC2D3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3784" y="1581912"/>
            <a:ext cx="2029968" cy="13441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93592" y="1335024"/>
            <a:ext cx="530352" cy="53035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3592" y="13350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1920240"/>
            <a:ext cx="17007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Aptos"/>
              </a:rPr>
              <a:t>RECUPERACIÓN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2322576"/>
            <a:ext cx="170078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Catálogo aprobado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039112"/>
            <a:ext cx="3108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AFC2D3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4648" y="1581912"/>
            <a:ext cx="2029968" cy="13441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34456" y="1335024"/>
            <a:ext cx="530352" cy="530352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34456" y="13350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920240"/>
            <a:ext cx="17007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D9A514"/>
                </a:solidFill>
                <a:latin typeface="Aptos"/>
              </a:rPr>
              <a:t>GENERACIÓN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22576"/>
            <a:ext cx="170078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Gemini / Qwen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6" y="2039112"/>
            <a:ext cx="3108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AFC2D3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1581912"/>
            <a:ext cx="2029968" cy="13441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75320" y="1335024"/>
            <a:ext cx="530352" cy="530352"/>
          </a:xfrm>
          <a:prstGeom prst="ellipse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13350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0104" y="1920240"/>
            <a:ext cx="17007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C84C4C"/>
                </a:solidFill>
                <a:latin typeface="Aptos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2322576"/>
            <a:ext cx="170078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Estructura + fuentes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2039112"/>
            <a:ext cx="3108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AFC2D3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66376" y="1581912"/>
            <a:ext cx="2029968" cy="13441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616184" y="1335024"/>
            <a:ext cx="530352" cy="530352"/>
          </a:xfrm>
          <a:prstGeom prst="ellipse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16184" y="13350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1920240"/>
            <a:ext cx="17007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7652A8"/>
                </a:solidFill>
                <a:latin typeface="Aptos"/>
              </a:rPr>
              <a:t>SALIDA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2322576"/>
            <a:ext cx="170078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Guía o abstención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3474720"/>
            <a:ext cx="5184648" cy="1591056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" y="3758184"/>
            <a:ext cx="1499616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D9A514"/>
                </a:solidFill>
                <a:latin typeface="Aptos"/>
              </a:rPr>
              <a:t>JSON SCHEMA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4187952"/>
            <a:ext cx="4626864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Resumen · preguntas pendientes · requisitos · pasos · advertencias · referencias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72784" y="3474720"/>
            <a:ext cx="5184648" cy="1591056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47104" y="3758184"/>
            <a:ext cx="1499616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0F8B8D"/>
                </a:solidFill>
                <a:latin typeface="Aptos"/>
              </a:rPr>
              <a:t>ABSTENCIÓN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4160520"/>
            <a:ext cx="4626864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“No puedo confirmarlo con las fuentes registradas”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47088" y="5605272"/>
            <a:ext cx="8503920" cy="53035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03120" y="5742432"/>
            <a:ext cx="7991856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Si un requisito no puede trazarse al contexto recuperado, se elimina o se marca como no confirmado.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AFC2D3"/>
                </a:solidFill>
                <a:latin typeface="Aptos"/>
              </a:rPr>
              <a:t>MI TRÁMITE BOLIVIA  /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Visión futura · Migración a un LLM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QWEN INSTRUCTIVO + VLLM CUANDO LA EVIDENCIA LO JUSTIFIQUE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ESCALABILIDAD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97864"/>
            <a:ext cx="3749039" cy="184708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481328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478C7"/>
                </a:solidFill>
                <a:latin typeface="Aptos"/>
              </a:rPr>
              <a:t>ETAPA INICIAL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200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300" b="1">
                <a:solidFill>
                  <a:srgbClr val="102A43"/>
                </a:solidFill>
                <a:latin typeface="Aptos"/>
              </a:rPr>
              <a:t>Gemini / Qwen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78024"/>
            <a:ext cx="3200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0">
                <a:solidFill>
                  <a:srgbClr val="5F6B7A"/>
                </a:solidFill>
                <a:latin typeface="Aptos"/>
              </a:rPr>
              <a:t>Costo variable · menor operación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74519"/>
            <a:ext cx="6400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0F8B8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6944" y="1197864"/>
            <a:ext cx="6291072" cy="1847088"/>
          </a:xfrm>
          <a:prstGeom prst="roundRect">
            <a:avLst/>
          </a:prstGeom>
          <a:solidFill>
            <a:srgbClr val="E8F5F4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41264" y="1481328"/>
            <a:ext cx="57424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8B8D"/>
                </a:solidFill>
                <a:latin typeface="Aptos"/>
              </a:rPr>
              <a:t>VISIÓN FUTURA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1264" y="1901952"/>
            <a:ext cx="57424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>
                <a:solidFill>
                  <a:srgbClr val="102A43"/>
                </a:solidFill>
                <a:latin typeface="Aptos"/>
              </a:rPr>
              <a:t>Qwen instructivo · vLLM · servidor controlado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1264" y="2478024"/>
            <a:ext cx="574243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0">
                <a:solidFill>
                  <a:srgbClr val="5F6B7A"/>
                </a:solidFill>
                <a:latin typeface="Aptos"/>
              </a:rPr>
              <a:t>Privacidad · control · potencial reducción de costo por volumen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493008"/>
            <a:ext cx="222199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CRITERIOS DE DECISIÓN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886200"/>
            <a:ext cx="1947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4023360"/>
            <a:ext cx="31089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F8B8D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3995928"/>
            <a:ext cx="123444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Costo por conversación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16936" y="3886200"/>
            <a:ext cx="1947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63240" y="4023360"/>
            <a:ext cx="31089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F8B8D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3995928"/>
            <a:ext cx="123444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Calidad en español boliviano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3886200"/>
            <a:ext cx="1947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85232" y="4023360"/>
            <a:ext cx="31089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F8B8D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1848" y="3995928"/>
            <a:ext cx="123444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Tasa de errores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886200"/>
            <a:ext cx="1947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07224" y="4023360"/>
            <a:ext cx="31089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F8B8D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995928"/>
            <a:ext cx="123444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Privacidad requerida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82912" y="3886200"/>
            <a:ext cx="19476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29216" y="4023360"/>
            <a:ext cx="31089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F8B8D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5832" y="3995928"/>
            <a:ext cx="123444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>
                <a:solidFill>
                  <a:srgbClr val="102A43"/>
                </a:solidFill>
                <a:latin typeface="Aptos"/>
              </a:rPr>
              <a:t>Latencia y demanda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" y="5184648"/>
            <a:ext cx="10963656" cy="65836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5367528"/>
            <a:ext cx="10433304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Requisitos operativos: GPU · cuantización · monitoreo · colas · límites de concurrencia · continuidad · proveedor externo de respaldo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15184" y="6053328"/>
            <a:ext cx="69677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D97745"/>
                </a:solidFill>
                <a:latin typeface="Aptos"/>
              </a:rPr>
              <a:t>Principio: migrar por costo, calidad o privacidad medidos; no por moda.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Prototipo y flujo de experiencia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BUSCAR → VERIFICAR → PREPARAR → DERIVAR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PRODUCTO</a:t>
            </a:r>
          </a:p>
        </p:txBody>
      </p:sp>
      <p:sp>
        <p:nvSpPr>
          <p:cNvPr id="8" name="Chevron 7"/>
          <p:cNvSpPr/>
          <p:nvPr/>
        </p:nvSpPr>
        <p:spPr>
          <a:xfrm>
            <a:off x="566928" y="1078992"/>
            <a:ext cx="2084831" cy="530352"/>
          </a:xfrm>
          <a:prstGeom prst="chevron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78992"/>
            <a:ext cx="1874519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Inicio</a:t>
            </a:r>
          </a:p>
        </p:txBody>
      </p:sp>
      <p:sp>
        <p:nvSpPr>
          <p:cNvPr id="10" name="Chevron 9"/>
          <p:cNvSpPr/>
          <p:nvPr/>
        </p:nvSpPr>
        <p:spPr>
          <a:xfrm>
            <a:off x="2889504" y="1078992"/>
            <a:ext cx="2084831" cy="530352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2656" y="1078992"/>
            <a:ext cx="1874519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Consultar / IA</a:t>
            </a:r>
          </a:p>
        </p:txBody>
      </p:sp>
      <p:sp>
        <p:nvSpPr>
          <p:cNvPr id="12" name="Chevron 11"/>
          <p:cNvSpPr/>
          <p:nvPr/>
        </p:nvSpPr>
        <p:spPr>
          <a:xfrm>
            <a:off x="5212080" y="1078992"/>
            <a:ext cx="2084831" cy="530352"/>
          </a:xfrm>
          <a:prstGeom prst="chevron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85232" y="1078992"/>
            <a:ext cx="1874519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Revisar</a:t>
            </a:r>
          </a:p>
        </p:txBody>
      </p:sp>
      <p:sp>
        <p:nvSpPr>
          <p:cNvPr id="14" name="Chevron 13"/>
          <p:cNvSpPr/>
          <p:nvPr/>
        </p:nvSpPr>
        <p:spPr>
          <a:xfrm>
            <a:off x="7534656" y="1078992"/>
            <a:ext cx="2084831" cy="530352"/>
          </a:xfrm>
          <a:prstGeom prst="chevron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7808" y="1078992"/>
            <a:ext cx="1874519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Checklist</a:t>
            </a:r>
          </a:p>
        </p:txBody>
      </p:sp>
      <p:sp>
        <p:nvSpPr>
          <p:cNvPr id="16" name="Chevron 15"/>
          <p:cNvSpPr/>
          <p:nvPr/>
        </p:nvSpPr>
        <p:spPr>
          <a:xfrm>
            <a:off x="9857232" y="1078992"/>
            <a:ext cx="2084831" cy="530352"/>
          </a:xfrm>
          <a:prstGeom prst="chevron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30384" y="1078992"/>
            <a:ext cx="1874519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oficial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709928"/>
            <a:ext cx="569671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C84C4C"/>
                </a:solidFill>
                <a:latin typeface="Aptos"/>
              </a:rPr>
              <a:t>La aplicación orienta y prepara; no ejecuta el trámite.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148840"/>
            <a:ext cx="2871216" cy="358444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2249424"/>
            <a:ext cx="2688336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719437" y="2194560"/>
            <a:ext cx="803940" cy="73152"/>
          </a:xfrm>
          <a:prstGeom prst="roundRect">
            <a:avLst/>
          </a:prstGeom>
          <a:solidFill>
            <a:srgbClr val="20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2423160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Inicio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2834640"/>
            <a:ext cx="2322576" cy="3657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2935224"/>
            <a:ext cx="1947672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Aptos"/>
              </a:rPr>
              <a:t>Buscar trámites…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3410712"/>
            <a:ext cx="2322576" cy="621792"/>
          </a:xfrm>
          <a:prstGeom prst="roundRect">
            <a:avLst/>
          </a:prstGeom>
          <a:solidFill>
            <a:srgbClr val="E8F5F4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52144" y="3547872"/>
            <a:ext cx="1947672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Aptos"/>
              </a:rPr>
              <a:t>Asistente IA</a:t>
            </a:r>
            <a:r>
              <a:t/>
            </a:r>
            <a:br/>
            <a:r>
              <a:t>con fuentes oficiales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4279392"/>
            <a:ext cx="2322576" cy="256032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334256"/>
            <a:ext cx="201168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Aptos"/>
              </a:rPr>
              <a:t>Identidad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4626864"/>
            <a:ext cx="2322576" cy="256032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5568" y="4681728"/>
            <a:ext cx="201168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Aptos"/>
              </a:rPr>
              <a:t>Educación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974336"/>
            <a:ext cx="2322576" cy="256032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5568" y="5029200"/>
            <a:ext cx="201168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Aptos"/>
              </a:rPr>
              <a:t>Negocios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45152" y="2148840"/>
            <a:ext cx="2871216" cy="358444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736592" y="2249424"/>
            <a:ext cx="2688336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678789" y="2194560"/>
            <a:ext cx="803940" cy="73152"/>
          </a:xfrm>
          <a:prstGeom prst="roundRect">
            <a:avLst/>
          </a:prstGeom>
          <a:solidFill>
            <a:srgbClr val="20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2423160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Asistente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19472" y="2779776"/>
            <a:ext cx="2322576" cy="402336"/>
          </a:xfrm>
          <a:prstGeom prst="roundRect">
            <a:avLst/>
          </a:prstGeom>
          <a:solidFill>
            <a:srgbClr val="FFF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4920" y="2889504"/>
            <a:ext cx="201168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D97745"/>
                </a:solidFill>
                <a:latin typeface="Aptos"/>
              </a:rPr>
              <a:t>Verifica siempre las fuentes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19472" y="3401568"/>
            <a:ext cx="2011680" cy="457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65776" y="3538728"/>
            <a:ext cx="1719072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Aptos"/>
              </a:rPr>
              <a:t>¿Qué trámite necesitas?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30368" y="4087368"/>
            <a:ext cx="2011680" cy="731520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76672" y="4242816"/>
            <a:ext cx="171907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Aptos"/>
              </a:rPr>
              <a:t>Guía estructurada</a:t>
            </a:r>
            <a:r>
              <a:t/>
            </a:r>
            <a:br/>
            <a:r>
              <a:t>+ fuente + fecha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19472" y="5047488"/>
            <a:ext cx="2322576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4920" y="5129784"/>
            <a:ext cx="1975104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Aptos"/>
              </a:rPr>
              <a:t>Escribe tu consulta…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4504" y="2148840"/>
            <a:ext cx="2871216" cy="358444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695944" y="2249424"/>
            <a:ext cx="2688336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638141" y="2194560"/>
            <a:ext cx="803940" cy="73152"/>
          </a:xfrm>
          <a:prstGeom prst="roundRect">
            <a:avLst/>
          </a:prstGeom>
          <a:solidFill>
            <a:srgbClr val="20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51392" y="2423160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Checklist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7968" y="2788920"/>
            <a:ext cx="226771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2 de 4 · 50 %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87968" y="3072384"/>
            <a:ext cx="2267712" cy="109728"/>
          </a:xfrm>
          <a:prstGeom prst="roundRect">
            <a:avLst/>
          </a:prstGeom>
          <a:solidFill>
            <a:srgbClr val="DD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887968" y="3072384"/>
            <a:ext cx="1133856" cy="109728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887968" y="3456432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78824" y="3438144"/>
            <a:ext cx="246888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0F8B8D"/>
                </a:solidFill>
                <a:latin typeface="Aptos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3728" y="3474720"/>
            <a:ext cx="177393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Aptos"/>
              </a:rPr>
              <a:t>Documento de identidad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87968" y="3895344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78824" y="3877056"/>
            <a:ext cx="246888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0F8B8D"/>
                </a:solidFill>
                <a:latin typeface="Aptos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3728" y="3913631"/>
            <a:ext cx="177393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102A43"/>
                </a:solidFill>
                <a:latin typeface="Aptos"/>
              </a:rPr>
              <a:t>Formulario vigente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87968" y="4334256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253728" y="4352544"/>
            <a:ext cx="177393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102A43"/>
                </a:solidFill>
                <a:latin typeface="Aptos"/>
              </a:rPr>
              <a:t>Comprobante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87968" y="4773168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53728" y="4791455"/>
            <a:ext cx="177393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102A43"/>
                </a:solidFill>
                <a:latin typeface="Aptos"/>
              </a:rPr>
              <a:t>Condición especial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36392" y="5952744"/>
            <a:ext cx="5916168" cy="274320"/>
          </a:xfrm>
          <a:prstGeom prst="roundRect">
            <a:avLst/>
          </a:prstGeom>
          <a:solidFill>
            <a:srgbClr val="FFF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46120" y="6016752"/>
            <a:ext cx="5696712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60" b="1">
                <a:solidFill>
                  <a:srgbClr val="D97745"/>
                </a:solidFill>
                <a:latin typeface="Aptos"/>
              </a:rPr>
              <a:t>Maquetas reconstruidas desde la Tabla 8; no se adjuntó archivo ni capturas de Figma.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Análisis de mercado y competencia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COMPLEMENTO INTEROPERABLE, NO SUSTITUTO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MERCADO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124712"/>
            <a:ext cx="2487168" cy="43891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43584"/>
            <a:ext cx="2267712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ALTERNATIVA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124712"/>
            <a:ext cx="3218688" cy="43891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28416" y="1243584"/>
            <a:ext cx="2999232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FORTALEZA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7104" y="1124712"/>
            <a:ext cx="5010912" cy="43891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2" y="1243584"/>
            <a:ext cx="4791456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BRECHA / POSICIÓN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1581912"/>
            <a:ext cx="2487168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673352"/>
            <a:ext cx="223113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Portal gob.bo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1581912"/>
            <a:ext cx="3218688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46704" y="1673352"/>
            <a:ext cx="296265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Catálogo oficial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7104" y="1581912"/>
            <a:ext cx="501091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1673352"/>
            <a:ext cx="47548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Mi Trámite añade conversación y checklist.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167128"/>
            <a:ext cx="2487168" cy="521207"/>
          </a:xfrm>
          <a:prstGeom prst="rect">
            <a:avLst/>
          </a:prstGeom>
          <a:solidFill>
            <a:srgbClr val="F7F9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2258568"/>
            <a:ext cx="223113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Ciudadanía Digital / PTC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2167128"/>
            <a:ext cx="3218688" cy="521207"/>
          </a:xfrm>
          <a:prstGeom prst="rect">
            <a:avLst/>
          </a:prstGeom>
          <a:solidFill>
            <a:srgbClr val="F7F9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46704" y="2258568"/>
            <a:ext cx="296265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Identidad y ejecución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47104" y="2167128"/>
            <a:ext cx="5010912" cy="521207"/>
          </a:xfrm>
          <a:prstGeom prst="rect">
            <a:avLst/>
          </a:prstGeom>
          <a:solidFill>
            <a:srgbClr val="F7F9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2258568"/>
            <a:ext cx="47548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Aliado potencial; orientación previa.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752344"/>
            <a:ext cx="2487168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2843784"/>
            <a:ext cx="223113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Portales institucionales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18688" y="2752344"/>
            <a:ext cx="3218688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46704" y="2843784"/>
            <a:ext cx="296265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Alta autoridad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47104" y="2752344"/>
            <a:ext cx="501091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2843784"/>
            <a:ext cx="47548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Experiencia fragmentada entre entidades.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3337560"/>
            <a:ext cx="2487168" cy="521207"/>
          </a:xfrm>
          <a:prstGeom prst="rect">
            <a:avLst/>
          </a:prstGeom>
          <a:solidFill>
            <a:srgbClr val="F7F9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3429000"/>
            <a:ext cx="223113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Buscadores y redes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18688" y="3337560"/>
            <a:ext cx="3218688" cy="521207"/>
          </a:xfrm>
          <a:prstGeom prst="rect">
            <a:avLst/>
          </a:prstGeom>
          <a:solidFill>
            <a:srgbClr val="F7F9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46704" y="3429000"/>
            <a:ext cx="296265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Acceso rápido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47104" y="3337560"/>
            <a:ext cx="5010912" cy="521207"/>
          </a:xfrm>
          <a:prstGeom prst="rect">
            <a:avLst/>
          </a:prstGeom>
          <a:solidFill>
            <a:srgbClr val="F7F9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3429000"/>
            <a:ext cx="47548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Desactualización y baja trazabilidad.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3922776"/>
            <a:ext cx="2487168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014215"/>
            <a:ext cx="223113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Tramitadores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18688" y="3922776"/>
            <a:ext cx="3218688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46704" y="4014215"/>
            <a:ext cx="296265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Orientación humana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47104" y="3922776"/>
            <a:ext cx="501091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0" y="4014215"/>
            <a:ext cx="47548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>
                <a:solidFill>
                  <a:srgbClr val="102A43"/>
                </a:solidFill>
                <a:latin typeface="Aptos"/>
              </a:rPr>
              <a:t>Costo, opacidad y conocimiento no verificable.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" y="4507992"/>
            <a:ext cx="2487168" cy="521207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8" y="4599431"/>
            <a:ext cx="223113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Mi Trámite Bolivia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18688" y="4507992"/>
            <a:ext cx="3218688" cy="521207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46704" y="4599431"/>
            <a:ext cx="296265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Guía transversal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47104" y="4507992"/>
            <a:ext cx="5010912" cy="521207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0" y="4599431"/>
            <a:ext cx="47548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Caso personal + fuente + RAG controlado.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394960"/>
            <a:ext cx="10972800" cy="64008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112" y="5605272"/>
            <a:ext cx="1143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D9A514"/>
                </a:solidFill>
                <a:latin typeface="Aptos"/>
              </a:rPr>
              <a:t>DIFERENCIAL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21408" y="5532120"/>
            <a:ext cx="9134856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Personalización · trazabilidad · móvil · abstención · interoperabilidad futura · enfoque boliviano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Estrategia de captación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CONSEGUIR USUARIOS DONDE YA BUSCAN ORIENTACIÓN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GO-TO-MARKET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35024"/>
            <a:ext cx="201168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25880" y="1645920"/>
            <a:ext cx="585216" cy="58521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16459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04872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0F8B8D"/>
                </a:solidFill>
                <a:latin typeface="Aptos"/>
              </a:rPr>
              <a:t>ALIANZAS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3464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Centros de estudiantes UMSA</a:t>
            </a:r>
            <a:r>
              <a:t/>
            </a:r>
            <a:br/>
            <a:r>
              <a:t>Incubadoras y cámaras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1335024"/>
            <a:ext cx="201168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02736" y="1645920"/>
            <a:ext cx="585216" cy="585216"/>
          </a:xfrm>
          <a:prstGeom prst="ellipse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02736" y="16459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404872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C84C4C"/>
                </a:solidFill>
                <a:latin typeface="Aptos"/>
              </a:rPr>
              <a:t>CONTENIDO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83464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TikTok · Facebook · Instagram</a:t>
            </a:r>
            <a:r>
              <a:t/>
            </a:r>
            <a:br/>
            <a:r>
              <a:t>“Antes de ir, verifica…”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1335024"/>
            <a:ext cx="201168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79592" y="1645920"/>
            <a:ext cx="585216" cy="58521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6459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404872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D9A514"/>
                </a:solidFill>
                <a:latin typeface="Aptos"/>
              </a:rPr>
              <a:t>CÓDIGOS 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83464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Materiales de aliados</a:t>
            </a:r>
            <a:r>
              <a:t/>
            </a:r>
            <a:br/>
            <a:r>
              <a:t>con autorización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335024"/>
            <a:ext cx="201168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56448" y="1645920"/>
            <a:ext cx="585216" cy="585216"/>
          </a:xfrm>
          <a:prstGeom prst="ellipse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6448" y="16459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404872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7652A8"/>
                </a:solidFill>
                <a:latin typeface="Aptos"/>
              </a:rPr>
              <a:t>BETA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83464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Usuarios que reportan cambios</a:t>
            </a:r>
            <a:r>
              <a:t/>
            </a:r>
            <a:br/>
            <a:r>
              <a:t>+ premium temporal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29216" y="1335024"/>
            <a:ext cx="201168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433304" y="1645920"/>
            <a:ext cx="585216" cy="585216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33304" y="16459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2404872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478C7"/>
                </a:solidFill>
                <a:latin typeface="Aptos"/>
              </a:rPr>
              <a:t>BÚSQUEDA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283464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Páginas públicas indexables</a:t>
            </a:r>
            <a:r>
              <a:t/>
            </a:r>
            <a:br/>
            <a:r>
              <a:t>por trámite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096512"/>
            <a:ext cx="194767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SECUENCIA DE ENTRADA</a:t>
            </a:r>
          </a:p>
        </p:txBody>
      </p:sp>
      <p:sp>
        <p:nvSpPr>
          <p:cNvPr id="34" name="Chevron 33"/>
          <p:cNvSpPr/>
          <p:nvPr/>
        </p:nvSpPr>
        <p:spPr>
          <a:xfrm>
            <a:off x="658368" y="4517136"/>
            <a:ext cx="2011680" cy="676656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19" y="4517136"/>
            <a:ext cx="1801368" cy="6766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La Paz</a:t>
            </a:r>
          </a:p>
        </p:txBody>
      </p:sp>
      <p:sp>
        <p:nvSpPr>
          <p:cNvPr id="36" name="Chevron 35"/>
          <p:cNvSpPr/>
          <p:nvPr/>
        </p:nvSpPr>
        <p:spPr>
          <a:xfrm>
            <a:off x="2880360" y="4517136"/>
            <a:ext cx="2011680" cy="676656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53512" y="4517136"/>
            <a:ext cx="1801368" cy="6766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20–30 trámites</a:t>
            </a:r>
          </a:p>
        </p:txBody>
      </p:sp>
      <p:sp>
        <p:nvSpPr>
          <p:cNvPr id="38" name="Chevron 37"/>
          <p:cNvSpPr/>
          <p:nvPr/>
        </p:nvSpPr>
        <p:spPr>
          <a:xfrm>
            <a:off x="5102352" y="4517136"/>
            <a:ext cx="2011680" cy="676656"/>
          </a:xfrm>
          <a:prstGeom prst="chevron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75504" y="4517136"/>
            <a:ext cx="1801368" cy="6766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Piloto UMSA</a:t>
            </a:r>
          </a:p>
        </p:txBody>
      </p:sp>
      <p:sp>
        <p:nvSpPr>
          <p:cNvPr id="40" name="Chevron 39"/>
          <p:cNvSpPr/>
          <p:nvPr/>
        </p:nvSpPr>
        <p:spPr>
          <a:xfrm>
            <a:off x="7324344" y="4517136"/>
            <a:ext cx="2011680" cy="676656"/>
          </a:xfrm>
          <a:prstGeom prst="chevron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97496" y="4517136"/>
            <a:ext cx="1801368" cy="6766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Demo B2B</a:t>
            </a:r>
          </a:p>
        </p:txBody>
      </p:sp>
      <p:sp>
        <p:nvSpPr>
          <p:cNvPr id="42" name="Chevron 41"/>
          <p:cNvSpPr/>
          <p:nvPr/>
        </p:nvSpPr>
        <p:spPr>
          <a:xfrm>
            <a:off x="9546336" y="4517136"/>
            <a:ext cx="2011680" cy="676656"/>
          </a:xfrm>
          <a:prstGeom prst="chevron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19488" y="4517136"/>
            <a:ext cx="1801368" cy="6766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Paquetes regionales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64208" y="5650992"/>
            <a:ext cx="8860536" cy="493776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01952" y="5769864"/>
            <a:ext cx="838504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30" b="1">
                <a:solidFill>
                  <a:srgbClr val="0B6B6C"/>
                </a:solidFill>
                <a:latin typeface="Aptos"/>
              </a:rPr>
              <a:t>Métrica de captación: conversión desde contenido educativo + costo por usuario registrado.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Estudio económico · Inversión y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VALOR DEL TRABAJO VS. EFECTIVO REQUERIDO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ECONOMÍA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078992"/>
            <a:ext cx="345643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078992"/>
            <a:ext cx="73152" cy="98755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188719"/>
            <a:ext cx="3136391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97.350 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645919"/>
            <a:ext cx="3136391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Valor económico total del 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078992"/>
            <a:ext cx="345643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078992"/>
            <a:ext cx="73152" cy="98755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188719"/>
            <a:ext cx="3136391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24.500 Bs.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645919"/>
            <a:ext cx="3136391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Desembolso con aporte fundador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078992"/>
            <a:ext cx="3456432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9872" y="1078992"/>
            <a:ext cx="73152" cy="987552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188719"/>
            <a:ext cx="3136391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6.000 Bs./mes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645919"/>
            <a:ext cx="3136391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Operación sostenible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450592"/>
            <a:ext cx="1874519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INVERSIÓN INICIAL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770632"/>
            <a:ext cx="1234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" b="0">
                <a:solidFill>
                  <a:srgbClr val="5F6B7A"/>
                </a:solidFill>
                <a:latin typeface="Aptos"/>
              </a:rPr>
              <a:t>Investigación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2779775"/>
            <a:ext cx="2322576" cy="128016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965960" y="2779775"/>
            <a:ext cx="422286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65960" y="2779775"/>
            <a:ext cx="158357" cy="12801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072384"/>
            <a:ext cx="1234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" b="0">
                <a:solidFill>
                  <a:srgbClr val="5F6B7A"/>
                </a:solidFill>
                <a:latin typeface="Aptos"/>
              </a:rPr>
              <a:t>UX/UI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3081527"/>
            <a:ext cx="2322576" cy="128016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965960" y="3081527"/>
            <a:ext cx="633429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965960" y="3081527"/>
            <a:ext cx="211143" cy="12801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3374136"/>
            <a:ext cx="1234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" b="0">
                <a:solidFill>
                  <a:srgbClr val="5F6B7A"/>
                </a:solidFill>
                <a:latin typeface="Aptos"/>
              </a:rPr>
              <a:t>Flutter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3383279"/>
            <a:ext cx="2322576" cy="128016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65960" y="3383279"/>
            <a:ext cx="2111432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3675887"/>
            <a:ext cx="1234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" b="0">
                <a:solidFill>
                  <a:srgbClr val="5F6B7A"/>
                </a:solidFill>
                <a:latin typeface="Aptos"/>
              </a:rPr>
              <a:t>Backend 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65960" y="3685031"/>
            <a:ext cx="2322576" cy="128016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965960" y="3685031"/>
            <a:ext cx="2322576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3977639"/>
            <a:ext cx="1234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" b="0">
                <a:solidFill>
                  <a:srgbClr val="5F6B7A"/>
                </a:solidFill>
                <a:latin typeface="Aptos"/>
              </a:rPr>
              <a:t>IA y RAG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5960" y="3986783"/>
            <a:ext cx="2322576" cy="128016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965960" y="3986783"/>
            <a:ext cx="1266859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965960" y="3986783"/>
            <a:ext cx="211143" cy="12801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4279392"/>
            <a:ext cx="1234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" b="0">
                <a:solidFill>
                  <a:srgbClr val="5F6B7A"/>
                </a:solidFill>
                <a:latin typeface="Aptos"/>
              </a:rPr>
              <a:t>Catálogo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65960" y="4288536"/>
            <a:ext cx="2322576" cy="128016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65960" y="4288536"/>
            <a:ext cx="844573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65960" y="4288536"/>
            <a:ext cx="527858" cy="12801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4581144"/>
            <a:ext cx="1234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" b="0">
                <a:solidFill>
                  <a:srgbClr val="5F6B7A"/>
                </a:solidFill>
                <a:latin typeface="Aptos"/>
              </a:rPr>
              <a:t>QA + 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65960" y="4590288"/>
            <a:ext cx="2322576" cy="128016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965960" y="4590288"/>
            <a:ext cx="739001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965960" y="4590288"/>
            <a:ext cx="211143" cy="12801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4882896"/>
            <a:ext cx="1234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" b="0">
                <a:solidFill>
                  <a:srgbClr val="5F6B7A"/>
                </a:solidFill>
                <a:latin typeface="Aptos"/>
              </a:rPr>
              <a:t>Infra 6 meses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5960" y="4892040"/>
            <a:ext cx="2322576" cy="128016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965960" y="4892040"/>
            <a:ext cx="475072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965960" y="4892040"/>
            <a:ext cx="475072" cy="12801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" y="5184648"/>
            <a:ext cx="1234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" b="0">
                <a:solidFill>
                  <a:srgbClr val="5F6B7A"/>
                </a:solidFill>
                <a:latin typeface="Aptos"/>
              </a:rPr>
              <a:t>Piloto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65960" y="5193792"/>
            <a:ext cx="2322576" cy="128016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965960" y="5193792"/>
            <a:ext cx="527858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965960" y="5193792"/>
            <a:ext cx="263929" cy="12801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8" y="5486400"/>
            <a:ext cx="1234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" b="0">
                <a:solidFill>
                  <a:srgbClr val="5F6B7A"/>
                </a:solidFill>
                <a:latin typeface="Aptos"/>
              </a:rPr>
              <a:t>Contingencia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65960" y="5495544"/>
            <a:ext cx="2322576" cy="128016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965960" y="5495544"/>
            <a:ext cx="934308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965960" y="5495544"/>
            <a:ext cx="527858" cy="12801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965960" y="5852160"/>
            <a:ext cx="232257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19" b="0">
                <a:solidFill>
                  <a:srgbClr val="5F6B7A"/>
                </a:solidFill>
                <a:latin typeface="Aptos"/>
              </a:rPr>
              <a:t>■ valor económico    ■ desembolso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2450592"/>
            <a:ext cx="2651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COSTO MENSUAL · 6.000 Bs.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4880" y="2834640"/>
            <a:ext cx="1211580" cy="50292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966460" y="2834640"/>
            <a:ext cx="581558" cy="502920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548018" y="2834640"/>
            <a:ext cx="484632" cy="502920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032650" y="2834640"/>
            <a:ext cx="193852" cy="502920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226503" y="2834640"/>
            <a:ext cx="193852" cy="502920"/>
          </a:xfrm>
          <a:prstGeom prst="rect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420356" y="2834640"/>
            <a:ext cx="121158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541514" y="2834640"/>
            <a:ext cx="121158" cy="502920"/>
          </a:xfrm>
          <a:prstGeom prst="rect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754880" y="3639312"/>
            <a:ext cx="128016" cy="12801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01768" y="3621024"/>
            <a:ext cx="158191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Aptos"/>
              </a:rPr>
              <a:t>Curación + soporte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29400" y="3621024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102A43"/>
                </a:solidFill>
                <a:latin typeface="Aptos"/>
              </a:rPr>
              <a:t>2.500 Bs.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54880" y="3968496"/>
            <a:ext cx="128016" cy="128016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01768" y="3950208"/>
            <a:ext cx="158191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Aptos"/>
              </a:rPr>
              <a:t>IA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29400" y="3950208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102A43"/>
                </a:solidFill>
                <a:latin typeface="Aptos"/>
              </a:rPr>
              <a:t>1.200 Bs.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54880" y="4297679"/>
            <a:ext cx="128016" cy="12801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01768" y="4279392"/>
            <a:ext cx="158191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Aptos"/>
              </a:rPr>
              <a:t>Marketing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29400" y="4279392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102A43"/>
                </a:solidFill>
                <a:latin typeface="Aptos"/>
              </a:rPr>
              <a:t>1.000 Bs.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54880" y="4626864"/>
            <a:ext cx="128016" cy="128016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001768" y="4608576"/>
            <a:ext cx="158191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Aptos"/>
              </a:rPr>
              <a:t>Render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29400" y="4608576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102A43"/>
                </a:solidFill>
                <a:latin typeface="Aptos"/>
              </a:rPr>
              <a:t>400 Bs.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54880" y="4956048"/>
            <a:ext cx="128016" cy="128016"/>
          </a:xfrm>
          <a:prstGeom prst="rect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01768" y="4937760"/>
            <a:ext cx="158191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Aptos"/>
              </a:rPr>
              <a:t>Contingencia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9400" y="4937760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102A43"/>
                </a:solidFill>
                <a:latin typeface="Aptos"/>
              </a:rPr>
              <a:t>400 Bs.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54880" y="5285231"/>
            <a:ext cx="128016" cy="12801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001768" y="5266944"/>
            <a:ext cx="158191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Aptos"/>
              </a:rPr>
              <a:t>Neon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29400" y="5266944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102A43"/>
                </a:solidFill>
                <a:latin typeface="Aptos"/>
              </a:rPr>
              <a:t>250 Bs.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54880" y="5614416"/>
            <a:ext cx="128016" cy="128016"/>
          </a:xfrm>
          <a:prstGeom prst="rect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01768" y="5596128"/>
            <a:ext cx="158191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102A43"/>
                </a:solidFill>
                <a:latin typeface="Aptos"/>
              </a:rPr>
              <a:t>Otros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29400" y="5596128"/>
            <a:ext cx="1005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102A43"/>
                </a:solidFill>
                <a:latin typeface="Aptos"/>
              </a:rPr>
              <a:t>250 Bs.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47304" y="2450592"/>
            <a:ext cx="3429000" cy="336499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49056" y="2816352"/>
            <a:ext cx="281635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D9A514"/>
                </a:solidFill>
                <a:latin typeface="Aptos"/>
              </a:rPr>
              <a:t>LECTURA ESTRATÉGICA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49056" y="3191256"/>
            <a:ext cx="2816352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El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desarrollo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fundador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reduce el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efectivo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inicial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,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pero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no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elimina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el valor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económico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del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trabajo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49056" y="4809744"/>
            <a:ext cx="2816352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C7DBE8"/>
                </a:solidFill>
                <a:latin typeface="Aptos"/>
              </a:rPr>
              <a:t>Fase académica: operación en efectivo ≈ 2.500 Bs./mes si curación y soporte son aportados.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Estudio económico · Ingresos y equilibrio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UN MODELO HÍBRIDO REDUCE LA DEPENDENCIA DEL PREMIUM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ECONOMÍA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179576"/>
            <a:ext cx="256032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89888"/>
            <a:ext cx="213969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0F8B8D"/>
                </a:solidFill>
                <a:latin typeface="Aptos"/>
              </a:rPr>
              <a:t>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64792"/>
            <a:ext cx="2139696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Aptos"/>
              </a:rPr>
              <a:t>20 Bs./mes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213969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A"/>
                </a:solidFill>
                <a:latin typeface="Aptos"/>
              </a:rPr>
              <a:t>Perfiles, alertas, historial y recordatorios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179576"/>
            <a:ext cx="256032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389888"/>
            <a:ext cx="213969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3478C7"/>
                </a:solidFill>
                <a:latin typeface="Aptos"/>
              </a:rPr>
              <a:t>LICENCIA 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764792"/>
            <a:ext cx="2139696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Aptos"/>
              </a:rPr>
              <a:t>2.000 Bs./mes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40280"/>
            <a:ext cx="213969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A"/>
                </a:solidFill>
                <a:latin typeface="Aptos"/>
              </a:rPr>
              <a:t>Panel, métricas y soporte institucional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1179576"/>
            <a:ext cx="256032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389888"/>
            <a:ext cx="213969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D9A514"/>
                </a:solidFill>
                <a:latin typeface="Aptos"/>
              </a:rPr>
              <a:t>WHITE-LABEL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64792"/>
            <a:ext cx="2139696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Aptos"/>
              </a:rPr>
              <a:t>8.000–20.000 Bs.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213969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A"/>
                </a:solidFill>
                <a:latin typeface="Aptos"/>
              </a:rPr>
              <a:t>Configuración, identidad y catálogo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16568" y="1179576"/>
            <a:ext cx="256032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389888"/>
            <a:ext cx="213969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7652A8"/>
                </a:solidFill>
                <a:latin typeface="Aptos"/>
              </a:rPr>
              <a:t>API + ANALÍTICA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43743"/>
            <a:ext cx="2139696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dirty="0">
                <a:solidFill>
                  <a:srgbClr val="102A43"/>
                </a:solidFill>
                <a:latin typeface="Aptos"/>
              </a:rPr>
              <a:t>1.000–3.000 </a:t>
            </a:r>
            <a:r>
              <a:rPr sz="1900" b="1" dirty="0" err="1">
                <a:solidFill>
                  <a:srgbClr val="102A43"/>
                </a:solidFill>
                <a:latin typeface="Aptos"/>
              </a:rPr>
              <a:t>Bs</a:t>
            </a:r>
            <a:r>
              <a:rPr sz="1900" b="1" dirty="0">
                <a:solidFill>
                  <a:srgbClr val="102A43"/>
                </a:solidFill>
                <a:latin typeface="Aptos"/>
              </a:rPr>
              <a:t>./</a:t>
            </a:r>
            <a:r>
              <a:rPr sz="1900" b="1" dirty="0" err="1">
                <a:solidFill>
                  <a:srgbClr val="102A43"/>
                </a:solidFill>
                <a:latin typeface="Aptos"/>
              </a:rPr>
              <a:t>mes</a:t>
            </a:r>
            <a:endParaRPr sz="19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26880" y="2240280"/>
            <a:ext cx="213969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A"/>
                </a:solidFill>
                <a:latin typeface="Aptos"/>
              </a:rPr>
              <a:t>Catálogo y tendencias no personales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291840"/>
            <a:ext cx="4343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ESCENARIOS DE PUNTO DE EQUILIBRIO OPERATIVO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75887"/>
            <a:ext cx="109087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3675887"/>
            <a:ext cx="91440" cy="5669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" y="3840479"/>
            <a:ext cx="1481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Aptos"/>
              </a:rPr>
              <a:t>INSTITUCIONAL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7752" y="3803903"/>
            <a:ext cx="3026664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4 licencias × 1.800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803903"/>
            <a:ext cx="1609344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7.200 Bs.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803903"/>
            <a:ext cx="267004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400" b="1">
                <a:solidFill>
                  <a:srgbClr val="102A43"/>
                </a:solidFill>
                <a:latin typeface="Aptos"/>
              </a:rPr>
              <a:t>Supera el costo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61688"/>
            <a:ext cx="109087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361688"/>
            <a:ext cx="91440" cy="5669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" y="4526279"/>
            <a:ext cx="1481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0F8B8D"/>
                </a:solidFill>
                <a:latin typeface="Aptos"/>
              </a:rPr>
              <a:t>MIXTO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87752" y="4489703"/>
            <a:ext cx="3026664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2 licencias + 134 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7024" y="4489703"/>
            <a:ext cx="1609344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6.012 Bs.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4489703"/>
            <a:ext cx="267004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400" b="1">
                <a:solidFill>
                  <a:srgbClr val="102A43"/>
                </a:solidFill>
                <a:latin typeface="Aptos"/>
              </a:rPr>
              <a:t>Equilibrio aprox.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047488"/>
            <a:ext cx="109087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8368" y="5047488"/>
            <a:ext cx="91440" cy="56692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0976" y="5212079"/>
            <a:ext cx="1481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D9A514"/>
                </a:solidFill>
                <a:latin typeface="Aptos"/>
              </a:rPr>
              <a:t>CIUDADANO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87752" y="5175503"/>
            <a:ext cx="3026664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334 premium × 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7024" y="5175503"/>
            <a:ext cx="1609344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6.012 Bs.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8" y="5175503"/>
            <a:ext cx="267004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400" b="1">
                <a:solidFill>
                  <a:srgbClr val="102A43"/>
                </a:solidFill>
                <a:latin typeface="Aptos"/>
              </a:rPr>
              <a:t>Mayor escala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65376" y="5870448"/>
            <a:ext cx="8476488" cy="347472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57400" y="5952744"/>
            <a:ext cx="8092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30" b="1">
                <a:solidFill>
                  <a:srgbClr val="3478C7"/>
                </a:solidFill>
                <a:latin typeface="Aptos"/>
              </a:rPr>
              <a:t>Escenario base año 1: 3 instituciones + 250 premium hacia el último trimestre ≈ equilibrio operativo.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20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Mapa de calor de 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PROBABILIDAD × IMPACTO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RIESGOS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252728"/>
            <a:ext cx="2587752" cy="1371600"/>
          </a:xfrm>
          <a:prstGeom prst="rect">
            <a:avLst/>
          </a:prstGeom>
          <a:solidFill>
            <a:srgbClr val="DDF2E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62272" y="1252728"/>
            <a:ext cx="2587752" cy="1371600"/>
          </a:xfrm>
          <a:prstGeom prst="rect">
            <a:avLst/>
          </a:prstGeom>
          <a:solidFill>
            <a:srgbClr val="FFF1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50024" y="1252728"/>
            <a:ext cx="2587752" cy="1371600"/>
          </a:xfrm>
          <a:prstGeom prst="rect">
            <a:avLst/>
          </a:prstGeom>
          <a:solidFill>
            <a:srgbClr val="F9D7D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74519" y="2624328"/>
            <a:ext cx="2587752" cy="1371600"/>
          </a:xfrm>
          <a:prstGeom prst="rect">
            <a:avLst/>
          </a:prstGeom>
          <a:solidFill>
            <a:srgbClr val="FFF1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62272" y="2624328"/>
            <a:ext cx="2587752" cy="1371600"/>
          </a:xfrm>
          <a:prstGeom prst="rect">
            <a:avLst/>
          </a:prstGeom>
          <a:solidFill>
            <a:srgbClr val="F7E0A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50024" y="2624328"/>
            <a:ext cx="2587752" cy="1371600"/>
          </a:xfrm>
          <a:prstGeom prst="rect">
            <a:avLst/>
          </a:prstGeom>
          <a:solidFill>
            <a:srgbClr val="F7C2C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74519" y="3995928"/>
            <a:ext cx="2587752" cy="1371600"/>
          </a:xfrm>
          <a:prstGeom prst="rect">
            <a:avLst/>
          </a:prstGeom>
          <a:solidFill>
            <a:srgbClr val="F7E0A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62272" y="3995928"/>
            <a:ext cx="2587752" cy="1371600"/>
          </a:xfrm>
          <a:prstGeom prst="rect">
            <a:avLst/>
          </a:prstGeom>
          <a:solidFill>
            <a:srgbClr val="F7C2C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50024" y="3995928"/>
            <a:ext cx="2587752" cy="1371600"/>
          </a:xfrm>
          <a:prstGeom prst="rect">
            <a:avLst/>
          </a:prstGeom>
          <a:solidFill>
            <a:srgbClr val="EFA3A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3127248"/>
            <a:ext cx="1097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5F6B7A"/>
                </a:solidFill>
                <a:latin typeface="Aptos"/>
              </a:rPr>
              <a:t>PROBABILIDAD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801368"/>
            <a:ext cx="51206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2A43"/>
                </a:solidFill>
                <a:latin typeface="Aptos"/>
              </a:rPr>
              <a:t>BAJA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172968"/>
            <a:ext cx="51206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2A43"/>
                </a:solidFill>
                <a:latin typeface="Aptos"/>
              </a:rPr>
              <a:t>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4544568"/>
            <a:ext cx="51206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2A43"/>
                </a:solidFill>
                <a:latin typeface="Aptos"/>
              </a:rPr>
              <a:t>ALTA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522976"/>
            <a:ext cx="8503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2A43"/>
                </a:solidFill>
                <a:latin typeface="Aptos"/>
              </a:rPr>
              <a:t>BAJO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5522976"/>
            <a:ext cx="8503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2A43"/>
                </a:solidFill>
                <a:latin typeface="Aptos"/>
              </a:rPr>
              <a:t>MEDIO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5522976"/>
            <a:ext cx="8503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2A43"/>
                </a:solidFill>
                <a:latin typeface="Aptos"/>
              </a:rPr>
              <a:t>ALTO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5852160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5F6B7A"/>
                </a:solidFill>
                <a:latin typeface="Aptos"/>
              </a:rPr>
              <a:t>IMPACTO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9432" y="4160520"/>
            <a:ext cx="2304288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A5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4279392"/>
            <a:ext cx="25603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D97745"/>
                </a:solidFill>
                <a:latin typeface="Aptos"/>
              </a:rPr>
              <a:t>R8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6904" y="4224528"/>
            <a:ext cx="1883664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Alcance excesivo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87184" y="4160520"/>
            <a:ext cx="2304288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51192" y="4279392"/>
            <a:ext cx="25603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C84C4C"/>
                </a:solidFill>
                <a:latin typeface="Aptos"/>
              </a:rPr>
              <a:t>R1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4224528"/>
            <a:ext cx="1883664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Desactualización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99432" y="2788920"/>
            <a:ext cx="107899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A5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0" y="2907792"/>
            <a:ext cx="25603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D97745"/>
                </a:solidFill>
                <a:latin typeface="Aptos"/>
              </a:rPr>
              <a:t>R3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46904" y="2852928"/>
            <a:ext cx="6583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Caída 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79008" y="2788920"/>
            <a:ext cx="107899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A5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43016" y="2907792"/>
            <a:ext cx="25603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D97745"/>
                </a:solidFill>
                <a:latin typeface="Aptos"/>
              </a:rPr>
              <a:t>R4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852928"/>
            <a:ext cx="6583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Costos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99432" y="3246120"/>
            <a:ext cx="107899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A5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63440" y="3364992"/>
            <a:ext cx="25603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D97745"/>
                </a:solidFill>
                <a:latin typeface="Aptos"/>
              </a:rPr>
              <a:t>R10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46904" y="3310128"/>
            <a:ext cx="6583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Brecha digital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87184" y="2788920"/>
            <a:ext cx="107899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51192" y="2907792"/>
            <a:ext cx="25603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C84C4C"/>
                </a:solidFill>
                <a:latin typeface="Aptos"/>
              </a:rPr>
              <a:t>R2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34656" y="2852928"/>
            <a:ext cx="6583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Alucinación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66760" y="2788920"/>
            <a:ext cx="107899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30768" y="2907792"/>
            <a:ext cx="25603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C84C4C"/>
                </a:solidFill>
                <a:latin typeface="Aptos"/>
              </a:rPr>
              <a:t>R5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4232" y="2852928"/>
            <a:ext cx="6583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Acceso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87184" y="3246120"/>
            <a:ext cx="107899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251192" y="3364992"/>
            <a:ext cx="25603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C84C4C"/>
                </a:solidFill>
                <a:latin typeface="Aptos"/>
              </a:rPr>
              <a:t>R6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34656" y="3310128"/>
            <a:ext cx="6583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Confusión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3246120"/>
            <a:ext cx="107899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30768" y="3364992"/>
            <a:ext cx="25603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C84C4C"/>
                </a:solidFill>
                <a:latin typeface="Aptos"/>
              </a:rPr>
              <a:t>R7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4232" y="3310128"/>
            <a:ext cx="6583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Adopción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87184" y="3703320"/>
            <a:ext cx="107899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51192" y="3822192"/>
            <a:ext cx="25603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C84C4C"/>
                </a:solidFill>
                <a:latin typeface="Aptos"/>
              </a:rPr>
              <a:t>R9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4656" y="3767328"/>
            <a:ext cx="6583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Actualización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75520" y="1252728"/>
            <a:ext cx="1682496" cy="41148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131552" y="1572768"/>
            <a:ext cx="117043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D9A514"/>
                </a:solidFill>
                <a:latin typeface="Aptos"/>
              </a:rPr>
              <a:t>MITIGAR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85832" y="2002536"/>
            <a:ext cx="1243584" cy="2697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Versionado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RAG + JSON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Abstención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Revisión humana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RBAC + auditoría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Límites + caché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Aviso independiente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75688" y="6144768"/>
            <a:ext cx="7589520" cy="274320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21992" y="6208776"/>
            <a:ext cx="7296912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19" b="1">
                <a:solidFill>
                  <a:srgbClr val="0B6B6C"/>
                </a:solidFill>
                <a:latin typeface="Aptos"/>
              </a:rPr>
              <a:t>Prioridad: exactitud y actualización; un error puede generar tiempo y dinero perdidos.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21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Cronograma de implementación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20 SEMANAS · SPRINTS DE DOS SEMANAS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EJECUCIÓN</a:t>
            </a:r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78992"/>
            <a:ext cx="11045952" cy="46451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" y="5870448"/>
            <a:ext cx="10762488" cy="329184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5952744"/>
            <a:ext cx="10433304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S3 validación · S5 prototipo · S11 API alfa · S14 asistente · S17 beta · S19 piloto · S20 defensa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22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Entregables e hitos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QUÉ SIGNIFICA LLEGAR A ALFA, BETA, PILOTO Y LANZAMIENTO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0B6B6C"/>
                </a:solidFill>
                <a:latin typeface="Aptos"/>
              </a:rPr>
              <a:t>EJECUCIÓN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517550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1389888"/>
            <a:ext cx="420624" cy="420624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3898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1280160"/>
            <a:ext cx="146304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0F8B8D"/>
                </a:solidFill>
                <a:latin typeface="Aptos"/>
              </a:rPr>
              <a:t>VALIDACIÓN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07592"/>
            <a:ext cx="548640" cy="265176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02352" y="1371600"/>
            <a:ext cx="402336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1627632"/>
            <a:ext cx="3977639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Aptos"/>
              </a:rPr>
              <a:t>Problema y público confirmados con entrevistas.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143000"/>
            <a:ext cx="517550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27648" y="1389888"/>
            <a:ext cx="420624" cy="420624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3898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4" y="1280160"/>
            <a:ext cx="146304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3478C7"/>
                </a:solidFill>
                <a:latin typeface="Aptos"/>
              </a:rPr>
              <a:t>PROTOTIPO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599" y="1307592"/>
            <a:ext cx="548640" cy="265176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88751" y="1371600"/>
            <a:ext cx="402336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1627632"/>
            <a:ext cx="3977639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Aptos"/>
              </a:rPr>
              <a:t>Flujo navegable probado con usuarios.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313432"/>
            <a:ext cx="517550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1247" y="2560320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25603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H3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2450592"/>
            <a:ext cx="146304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Aptos"/>
              </a:rPr>
              <a:t>ALFA TÉCNICA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2478024"/>
            <a:ext cx="548640" cy="265176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02352" y="2542032"/>
            <a:ext cx="402336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2798064"/>
            <a:ext cx="3977639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Aptos"/>
              </a:rPr>
              <a:t>Búsqueda, ficha y checklist funcionando.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2313432"/>
            <a:ext cx="517550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27648" y="2560320"/>
            <a:ext cx="420624" cy="420624"/>
          </a:xfrm>
          <a:prstGeom prst="ellipse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7648" y="25603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H4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2450592"/>
            <a:ext cx="146304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7652A8"/>
                </a:solidFill>
                <a:latin typeface="Aptos"/>
              </a:rPr>
              <a:t>ASISTENTE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599" y="2478024"/>
            <a:ext cx="548640" cy="265176"/>
          </a:xfrm>
          <a:prstGeom prst="round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88751" y="2542032"/>
            <a:ext cx="402336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864" y="2798064"/>
            <a:ext cx="3977639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Aptos"/>
              </a:rPr>
              <a:t>Respuestas con fuente y evaluación mínima.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483864"/>
            <a:ext cx="517550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41247" y="3730752"/>
            <a:ext cx="420624" cy="420624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7" y="37307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H5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6464" y="3621024"/>
            <a:ext cx="146304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D9A514"/>
                </a:solidFill>
                <a:latin typeface="Aptos"/>
              </a:rPr>
              <a:t>BETA SEGURA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3648456"/>
            <a:ext cx="548640" cy="265176"/>
          </a:xfrm>
          <a:prstGeom prst="round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02352" y="3712464"/>
            <a:ext cx="402336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26464" y="3968496"/>
            <a:ext cx="3977639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Aptos"/>
              </a:rPr>
              <a:t>Pruebas críticas aprobadas y monitoreo activo.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44768" y="3483864"/>
            <a:ext cx="517550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327648" y="3730752"/>
            <a:ext cx="420624" cy="420624"/>
          </a:xfrm>
          <a:prstGeom prst="ellipse">
            <a:avLst/>
          </a:prstGeom>
          <a:solidFill>
            <a:srgbClr val="D97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27648" y="37307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H6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2864" y="3621024"/>
            <a:ext cx="146304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D97745"/>
                </a:solidFill>
                <a:latin typeface="Aptos"/>
              </a:rPr>
              <a:t>PILOTO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15599" y="3648456"/>
            <a:ext cx="548640" cy="265176"/>
          </a:xfrm>
          <a:prstGeom prst="roundRect">
            <a:avLst/>
          </a:prstGeom>
          <a:solidFill>
            <a:srgbClr val="D97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88751" y="3712464"/>
            <a:ext cx="402336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2864" y="3968496"/>
            <a:ext cx="3977639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Aptos"/>
              </a:rPr>
              <a:t>Métricas de utilidad, precisión y adopción.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4654296"/>
            <a:ext cx="1066190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41247" y="4901183"/>
            <a:ext cx="420624" cy="420624"/>
          </a:xfrm>
          <a:prstGeom prst="ellipse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7" y="4901183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H7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26464" y="4791456"/>
            <a:ext cx="146304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C84C4C"/>
                </a:solidFill>
                <a:latin typeface="Aptos"/>
              </a:rPr>
              <a:t>LANZAMIENTO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15600" y="4818888"/>
            <a:ext cx="548640" cy="265176"/>
          </a:xfrm>
          <a:prstGeom prst="roundRect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588752" y="4882896"/>
            <a:ext cx="402336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26464" y="5138928"/>
            <a:ext cx="9464040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20" b="1">
                <a:solidFill>
                  <a:srgbClr val="102A43"/>
                </a:solidFill>
                <a:latin typeface="Aptos"/>
              </a:rPr>
              <a:t>MVP, documentación, defensa y continuidad.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BFD8E8"/>
                </a:solidFill>
                <a:latin typeface="Aptos"/>
              </a:rPr>
              <a:t>23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BF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Conclusiones y 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BFD8E8"/>
                </a:solidFill>
                <a:latin typeface="Aptos"/>
              </a:rPr>
              <a:t>LA VENTAJA NO ES “TENER IA”; ES CONVERTIR EVIDENCIA EN PREPARACIÓN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92608"/>
            <a:ext cx="2148840" cy="292608"/>
          </a:xfrm>
          <a:prstGeom prst="roundRect">
            <a:avLst/>
          </a:prstGeom>
          <a:solidFill>
            <a:srgbClr val="234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37192" y="361188"/>
            <a:ext cx="200253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80" b="1">
                <a:solidFill>
                  <a:srgbClr val="C7DBE8"/>
                </a:solidFill>
                <a:latin typeface="Aptos"/>
              </a:rPr>
              <a:t>CIERRE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24712"/>
            <a:ext cx="10927080" cy="676656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16736"/>
            <a:ext cx="10378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VIABLE COMO MVP SI LA CONFIANZA GOBIERNA EL ALCANCE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76272"/>
            <a:ext cx="3401568" cy="15727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536" y="2441448"/>
            <a:ext cx="420624" cy="420624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4414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359152"/>
            <a:ext cx="23317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0F8B8D"/>
                </a:solidFill>
                <a:latin typeface="Aptos"/>
              </a:rPr>
              <a:t>FACTIBILIDAD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2999232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Flutter + Go + Neon + Render permiten un MVP en ≈5 meses.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176272"/>
            <a:ext cx="3401568" cy="15727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26864" y="2441448"/>
            <a:ext cx="420624" cy="420624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26864" y="24414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359152"/>
            <a:ext cx="23317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D9A514"/>
                </a:solidFill>
                <a:latin typeface="Aptos"/>
              </a:rPr>
              <a:t>ACTIVO CENTRAL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880360"/>
            <a:ext cx="2999232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El catálogo versionado y su gobernanza sostienen la confianza.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2176272"/>
            <a:ext cx="3401568" cy="1572768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94192" y="2441448"/>
            <a:ext cx="420624" cy="420624"/>
          </a:xfrm>
          <a:prstGeom prst="ellipse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24414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359152"/>
            <a:ext cx="23317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7652A8"/>
                </a:solidFill>
                <a:latin typeface="Aptos"/>
              </a:rPr>
              <a:t>NEGOCIO HÍBRIDO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80360"/>
            <a:ext cx="2999232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El crecimiento empresarial debe validar ingresos institucionales.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920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D9A514"/>
                </a:solidFill>
                <a:latin typeface="Aptos"/>
              </a:rPr>
              <a:t>RECOMENDACIONES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71416"/>
            <a:ext cx="5175504" cy="603504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2959" y="4608576"/>
            <a:ext cx="310896" cy="31089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460857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4572000"/>
            <a:ext cx="14813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Limitar el piloto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4562855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30" b="1">
                <a:solidFill>
                  <a:srgbClr val="C7DBE8"/>
                </a:solidFill>
                <a:latin typeface="Aptos"/>
              </a:rPr>
              <a:t>20–30 trámites estables.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4471416"/>
            <a:ext cx="5175504" cy="603504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09359" y="4608576"/>
            <a:ext cx="310896" cy="31089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59" y="460857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4572000"/>
            <a:ext cx="14813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Gobernar contenido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4562855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30" b="1">
                <a:solidFill>
                  <a:srgbClr val="C7DBE8"/>
                </a:solidFill>
                <a:latin typeface="Aptos"/>
              </a:rPr>
              <a:t>Responsable, calendario y revisión.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239512"/>
            <a:ext cx="5175504" cy="603504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22959" y="5376672"/>
            <a:ext cx="310896" cy="31089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59" y="537667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2728" y="5340096"/>
            <a:ext cx="14813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Validar B2B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8336" y="5330951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30" b="1">
                <a:solidFill>
                  <a:srgbClr val="C7DBE8"/>
                </a:solidFill>
                <a:latin typeface="Aptos"/>
              </a:rPr>
              <a:t>Licencias antes de escalar cobertura.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5239512"/>
            <a:ext cx="5175504" cy="603504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309359" y="5376672"/>
            <a:ext cx="310896" cy="31089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59" y="537667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9128" y="5340096"/>
            <a:ext cx="14813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Medir Qwen local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5330951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30" b="1">
                <a:solidFill>
                  <a:srgbClr val="C7DBE8"/>
                </a:solidFill>
                <a:latin typeface="Aptos"/>
              </a:rPr>
              <a:t>Costo, calidad, privacidad y demanda.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5960" y="6108192"/>
            <a:ext cx="8257031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D9A514"/>
                </a:solidFill>
                <a:latin typeface="Aptos"/>
              </a:rPr>
              <a:t>Éxito = menos incertidumbre + preparación correcta + evidencia verificable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AFC2D3"/>
                </a:solidFill>
                <a:latin typeface="Aptos"/>
              </a:rPr>
              <a:t>MI TRÁMITE BOLIVIA  /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4630</Words>
  <Application>Microsoft Office PowerPoint</Application>
  <PresentationFormat>Panorámica</PresentationFormat>
  <Paragraphs>986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Trámite Bolivia — Presentación ampliada</dc:title>
  <dc:subject>Proyecto Final INF-264 — versión de defensa</dc:subject>
  <dc:creator>Equipo Mi Trámite Bolivia</dc:creator>
  <cp:keywords>Bolivia, trámites, RAG, Flutter, Go, emprendimiento, defensa</cp:keywords>
  <dc:description>Presentación ampliada a 23 diapositivas. Contenido basado en el documento fuente; los mockups de la diapositiva 15 fueron reconstruidos porque no se adjuntó un archivo Figma.</dc:description>
  <cp:lastModifiedBy>erick fernando</cp:lastModifiedBy>
  <cp:revision>2</cp:revision>
  <dcterms:created xsi:type="dcterms:W3CDTF">2013-01-27T09:14:16Z</dcterms:created>
  <dcterms:modified xsi:type="dcterms:W3CDTF">2026-07-26T19:09:50Z</dcterms:modified>
  <cp:category/>
</cp:coreProperties>
</file>