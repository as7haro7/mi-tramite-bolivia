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137160" cy="4114800"/>
          </a:xfrm>
          <a:prstGeom prst="rect">
            <a:avLst/>
          </a:prstGeom>
          <a:solidFill>
            <a:srgbClr val="007AFF"/>
          </a:solidFill>
          <a:ln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F59E0B"/>
                </a:solidFill>
              </a:defRPr>
            </a:pPr>
            <a:r>
              <a:t>1. LOGO E IDENTIDAD VISUAL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MI TRÁMITE BOLIVIA</a:t>
            </a:r>
          </a:p>
          <a:p>
            <a:pPr>
              <a:spcAft>
                <a:spcPts val="2000"/>
              </a:spcAft>
              <a:defRPr sz="2000">
                <a:solidFill>
                  <a:srgbClr val="007AFF"/>
                </a:solidFill>
              </a:defRPr>
            </a:pPr>
            <a:r>
              <a:t>Plataforma Ciudadana Inteligente de Orientación en Trámites Públicos</a:t>
            </a:r>
          </a:p>
          <a:p>
            <a:pPr>
              <a:spcAft>
                <a:spcPts val="2800"/>
              </a:spcAft>
              <a:defRPr sz="1400">
                <a:solidFill>
                  <a:srgbClr val="CBD5E1"/>
                </a:solidFill>
              </a:defRPr>
            </a:pPr>
            <a:r>
              <a:t>Identidad Visual: Colores Institucionales Azul Marino (#0F172A), Azul Sistema (#007AFF) y Turquesa (#0F9F8F).</a:t>
            </a:r>
            <a:br/>
            <a:r>
              <a:t>Símbolo: Escudo ciudadano con checklist de verificación de datos públicos.</a:t>
            </a:r>
          </a:p>
          <a:p>
            <a:pPr>
              <a:defRPr sz="1300" b="1">
                <a:solidFill>
                  <a:srgbClr val="94A3B8"/>
                </a:solidFill>
              </a:defRPr>
            </a:pPr>
            <a:r>
              <a:t>PROYECTO FINAL — INF 264 | Universidad Mayor de San Andrés (UMSA)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2. Identificación del Problema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F4444"/>
                </a:solidFill>
              </a:defRPr>
            </a:pPr>
            <a:r>
              <a:t>😩 Dolor del Usuario Boliviano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Desinformación generalizada y portales estatales desactualizados.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Requisitos ambiguos que generan múltiples viajes a oficinas públicas.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Filas interminables en SEGIP, SEPREC, SIN, DIGEMIG y SEGELIC.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Proliferación de tramitadores ilegales y cobros indebidos.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🌳 Causas, Efectos e Hipótesis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Causas: Fragmentación institucional y falta de APIs abiertas accesibles.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Efectos: Pérdida de horas laborales, frustración y costos extraordinarios.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Pregunta Central: ¿Cómo orientar eficientemente al ciudadano mediante IA?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Hipótesis: Un portal centralizado con RAG incrementa el éxito del trámite en un 80%.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3. Descripción del Emprendimiento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AFF"/>
                </a:solidFill>
              </a:defRPr>
            </a:pPr>
            <a:r>
              <a:t>💡 Propuesta de Valor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Plataforma inteligente que guía al ciudadano antes, durante y después de su trámite.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Fichas técnicas con requisitos indispensables, costos en Bs. y ubicación en mapas.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Transparencia total e independencia de organismos gubernamentales.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Formato multiplataforma móvil y web de alta accesibilidad.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9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9F8F"/>
                </a:solidFill>
              </a:defRPr>
            </a:pPr>
            <a:r>
              <a:t>⚙️ Funcionalidades Clave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Asistente Virtual IA RAG con citación explícita de normativas oficiales.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Checklist Dinámico Local para marcar documentos físicos preparados.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Catálogo precargado de trámites críticos (SEPREC, SEGIP, DIGEMIG, SIN, SEGELIC).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Demostración de pago QR interactivo en el modelo de suscripción.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4. Justificación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4C759"/>
                </a:solidFill>
              </a:defRPr>
            </a:pPr>
            <a:r>
              <a:t>👥 Relevancia Social y Ciudadana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Democratiza el acceso a la información gubernamental transparente.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Reduce la vulnerabilidad de adultos mayores y jóvenes frente a engaños.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Disminuye la congestión presencial en ventanillas de atención pública.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Fomenta la inclusión digital ciudadana en Bolivia.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📈 Impacto Económico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Ahorro directo en pasajes, copias y horas de trabajo perdidas.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Erradicación de costos por gestoría informada o cobros irregulares.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Formalización ágil de empresas unipersonales (SEPREC) y registros tributarios (SIN).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Generación de un modelo de negocio sostenible de impacto nacional.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5. Público Objetivo (Segmentación)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👔 Emprendedores &amp; MIPYMEs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Jóvenes y adultos (22-50 años).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Trámites: Inscripción SEPREC, NIT en SIN, licencias de funcionamiento.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Necesidad: Rapidez, evitar multas y formalización legal.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🧑‍🤝‍🧑 Ciudadanía General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Población activa (18-65 años).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Trámites: Renovación de Cédula (SEGIP), Pasaporte (DIGEMIG), Licencias.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Necesidad: Requisitos claros y ahorro de tiempo.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👨‍👩‍👧 Familias &amp; Dependientes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Cabezas de hogar.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Trámites: Documentos de hijos y padres de la tercera edad.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Necesidad: Perfiles familiares (Premium) y alertas centralizadas.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6. Modelo de Negocio (Lienzo Canvas)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F9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F9F8F"/>
                </a:solidFill>
              </a:defRPr>
            </a:pPr>
            <a:r>
              <a:t>🆓 Plan Gratuito (Bs. 0)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Consultas ilimitadas de trámites.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Asistente IA RAG completo.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Checklists guardados localmente.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Acceso a fuentes oficiales.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⭐ Plan Premium (Bs. 20/mes)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Sincronización multi-dispositivo.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Gestión de Perfiles Familiares.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Alertas automáticas de normativas.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Cobro vía Pago QR Simple.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📊 Estructura Canvas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Socios Clave: Entidades públicas y pasarelas de pago QR.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Canales: App Móvil, Web y Redes Sociales.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Estructura Costos: Infraestructura cloud, BD pgvector y API Gemini.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7. Tecnologías a Utilizar (Stack v2.0)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💻 Frontend (Mobile/Web)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Flutter 3.44 / Dart 3.12.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Multiplataforma (iOS, Android, Web).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Provider State Management.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SharedPreferences (Storage local).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⚡ Backend (API REST)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Go 1.22 + Gin Framework.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Arquitectura limpia por capas.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Middleware CORS &amp; Hashing IP.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Respuesta concurrente de alto throughput.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017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🛢️ BD &amp; Motor de IA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PostgreSQL 16 + pgvector.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Google Gemini 2.0 Flash.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Embeddings text-embedding-004.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Búsqueda por similitud de coseno.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8. Prototipo y Maquetado (Apple HIG)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AFF"/>
                </a:solidFill>
              </a:defRPr>
            </a:pPr>
            <a:r>
              <a:t>🎨 Estándar Visual iOS HIG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Tema Claro (Light Mode) obligatorio con paleta iOS System Blue (#007AFF).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Fondos de tabla agrupados (#F2F2F7) y tarjetas en blanco puro (#FFFFFF).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Efecto de cristal esmerilado translúcido (BackdropFilter blur 20) sin sombras duras.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Tipografía nativa limpia Plus Jakarta Sans / Inter.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📲 Componentes de Interfaz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Large Titles nativos alineados a la izquierda.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Cupertino TabBar estática de 3 pestañas (Inicio, Guardados, Perfil).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Botón Flotante (FAB) de Asistente IA + Panel Emergente Modal.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Buscador en bloque gris claro (#E3E3E8) con respuesta háptica.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9. Análisis de Mercado y Competencia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F4444"/>
                </a:solidFill>
              </a:defRPr>
            </a:pPr>
            <a:r>
              <a:t>🏢 Competencia Existente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Portales Estatales Oficiales: Estáticos, fragmentados y difíciles de navegar en móviles.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Tramitadores y Gestores Informales: Costosos, no garantizados y de alto riesgo de estafa.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Grupos en Redes Sociales: Información desactualizada y sin verificación normativa.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4C759"/>
                </a:solidFill>
              </a:defRPr>
            </a:pPr>
            <a:r>
              <a:t>🚀 Ventaja Competitiva Diferencial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Interacción RAG conversacional inteligente con citas legales precisas.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Experiencia de usuario móvil fluida de estándar mundial (Apple HIG).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Modelo freemium accesible (Bs. 20/mes) con pago directo por QR.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Garantía de privacidad sin registro obligatorio.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10. Estudio Económico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💸 Estructura de Costos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Servidor Cloud VPS / Docker Go: $25 USD / mes.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Base de Datos Managed PostgreSQL + Vector: $35 USD / mes.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Consumo API Gemini 2.0 Flash &amp; Embeddings: ~$0.0001 por consulta RAG.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Mantenimiento y desarrollo: Costos fijos optimizados en fase MVP.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4C759"/>
                </a:solidFill>
              </a:defRPr>
            </a:pPr>
            <a:r>
              <a:t>📈 Proyección de Ingresos &amp; Breakeven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Precio Suscripción Premium: Bs. 20 / mes (~$2.90 USD).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Meta Año 1: 2,500 suscriptores activos (Bs. 50,000 / mes de ingresos).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Punto de Equilibrio (Breakeven): Alcanzado con solo 150 suscriptores Premium.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Margen Operativo Bruto proyectado superior al 82%.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11. Análisis de Riesgos y Mitigación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EF4444"/>
                </a:solidFill>
              </a:defRPr>
            </a:pPr>
            <a:r>
              <a:t>⚠️ Riesgos Identificados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Técnico: Interrupción de API LLM o latencia en consultas RAG.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Regulatorio: Cambios súbitos de normativas o requisitos por decreto.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Operacional: Desconfianza ciudadana hacia herramientas digitales.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Privacidad: Fuga accidental de datos o intento de scraping abusivo.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4C7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34C759"/>
                </a:solidFill>
              </a:defRPr>
            </a:pPr>
            <a:r>
              <a:t>🛡️ Estrategias de Mitigación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Offline Fallback Inteligente: Respuesta precargada garantizada si la API falla.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Verificación Editorial: Módulo de actualización con fecha de sello de verificación.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Hashing de IPs y privacidad anónima sin recopilar datos sensibles.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Filtros de sanitización para evitar exposición de rutas internas.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7AFF"/>
                </a:solidFill>
              </a:defRPr>
            </a:pPr>
            <a:r>
              <a:t>ESTRUCTURA DEL PROYECTO — SECCIÓN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12. Cronograma de Implementación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AFF"/>
                </a:solidFill>
              </a:defRPr>
            </a:pPr>
            <a:r>
              <a:t>📅 Fases 1 y 2 (Completadas)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Fase 1 (Semanas 1-4): Investigación de requisitos, modelo de datos y backend Go.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Fase 2 (Semanas 5-8): Implementación de RAG vector con pgvector y Gemini 2.0.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Desarrollo de App Flutter multiplataforma (Android, iOS, Web).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Pruebas de calidad y linters (flutter analyze: 0 errores).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33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4338CA"/>
                </a:solidFill>
              </a:defRPr>
            </a:pPr>
            <a:r>
              <a:t>🚀 Fases 3 y 4 (Próximas)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Fase 3 (Semanas 9-12): Lanzamiento de Beta Pública y pasarela QR Simple.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Fase 4 (Meses 4-6): Inclusión de trámites de Gobiernos Autónomos Municipales.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Fase 5 (Meses 6-12): Integración con Ciudadanía Digital y Firma Digital Bolivia.</a:t>
            </a:r>
          </a:p>
          <a:p>
            <a:pPr>
              <a:spcAft>
                <a:spcPts val="600"/>
              </a:spcAft>
              <a:defRPr sz="1350">
                <a:solidFill>
                  <a:srgbClr val="0F172A"/>
                </a:solidFill>
              </a:defRPr>
            </a:pPr>
            <a:r>
              <a:t>•  Expansión corporativa para trámites de empresas.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59E0B"/>
                </a:solidFill>
              </a:defRPr>
            </a:pPr>
            <a:r>
              <a:t>ESTRUCTURA DEL PROYECTO — SECCIÓN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13. Conclusiones y Recomendaciones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F59E0B"/>
                </a:solidFill>
              </a:defRPr>
            </a:pPr>
            <a:r>
              <a:t>🏆 Conclusiones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Se logró desarrollar un MVP funcional de alto rendimiento en Flutter y Go.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La arquitectura RAG con Gemini 2.0 resuelve eficientemente la desinformación en trámites.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El diseño Apple HIG en Tema Claro garantiza una experiencia amigable y profesional.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El modelo freemium demuestra viabilidad financiera sólida.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3891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007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82880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 b="1">
                <a:solidFill>
                  <a:srgbClr val="007AFF"/>
                </a:solidFill>
              </a:defRPr>
            </a:pPr>
            <a:r>
              <a:t>💡 Recomendaciones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Mantener alianzas estratégicas con entidades gubernamentales para APIs directas.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Promover campañas de concientización sobre seguridad y trámites sin intermediarios.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Continuar la expansión del catálogo hacia municipios de La Paz, El Alto, Cochabamba y Santa Cruz.</a:t>
            </a:r>
          </a:p>
          <a:p>
            <a:pPr>
              <a:spcAft>
                <a:spcPts val="600"/>
              </a:spcAft>
              <a:defRPr sz="1350">
                <a:solidFill>
                  <a:srgbClr val="FFFFFF"/>
                </a:solidFill>
              </a:defRPr>
            </a:pPr>
            <a:r>
              <a:t>•  Implementar la sincronización multi-dispositivo en la nube para usuarios Premium.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